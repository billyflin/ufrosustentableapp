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c2d3fda57c4770" /><Relationship Type="http://schemas.openxmlformats.org/officeDocument/2006/relationships/extended-properties" Target="/docProps/app.xml" Id="R684c3eb1daca4afb" /><Relationship Type="http://schemas.openxmlformats.org/officeDocument/2006/relationships/officeDocument" Target="/ppt/presentation.xml" Id="R165f0fa7b4b543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3045741f434387"/>
  </p:sldMasterIdLst>
  <p:notesMasterIdLst>
    <p:notesMasterId xmlns:r="http://schemas.openxmlformats.org/officeDocument/2006/relationships" r:id="Rafdf0d78f35f4244"/>
  </p:notesMasterIdLst>
  <p:sldIdLst>
    <p:sldId xmlns:r="http://schemas.openxmlformats.org/officeDocument/2006/relationships" id="256" r:id="R74500c99a2714984"/>
    <p:sldId xmlns:r="http://schemas.openxmlformats.org/officeDocument/2006/relationships" id="257" r:id="R7515b5c95a864a4a"/>
    <p:sldId xmlns:r="http://schemas.openxmlformats.org/officeDocument/2006/relationships" id="258" r:id="Rfa0c2973edcd4339"/>
    <p:sldId xmlns:r="http://schemas.openxmlformats.org/officeDocument/2006/relationships" id="259" r:id="R21ac2a634be54144"/>
    <p:sldId xmlns:r="http://schemas.openxmlformats.org/officeDocument/2006/relationships" id="260" r:id="R53fa86e8a12048cf"/>
    <p:sldId xmlns:r="http://schemas.openxmlformats.org/officeDocument/2006/relationships" id="261" r:id="Rb03914d4f6964b8c"/>
    <p:sldId xmlns:r="http://schemas.openxmlformats.org/officeDocument/2006/relationships" id="262" r:id="R34e71924f785445d"/>
    <p:sldId xmlns:r="http://schemas.openxmlformats.org/officeDocument/2006/relationships" id="263" r:id="R6409a1b7624e4438"/>
    <p:sldId xmlns:r="http://schemas.openxmlformats.org/officeDocument/2006/relationships" id="264" r:id="R8e8a24c6f405429e"/>
    <p:sldId xmlns:r="http://schemas.openxmlformats.org/officeDocument/2006/relationships" id="265" r:id="Rad67b164f9cd4f49"/>
    <p:sldId xmlns:r="http://schemas.openxmlformats.org/officeDocument/2006/relationships" id="266" r:id="R908609f4000e429e"/>
    <p:sldId xmlns:r="http://schemas.openxmlformats.org/officeDocument/2006/relationships" id="267" r:id="Rce3bc4ce00f646ba"/>
    <p:sldId xmlns:r="http://schemas.openxmlformats.org/officeDocument/2006/relationships" id="268" r:id="Rc5bbad8343a04497"/>
    <p:sldId xmlns:r="http://schemas.openxmlformats.org/officeDocument/2006/relationships" id="269" r:id="R933731ce5f34465f"/>
    <p:sldId xmlns:r="http://schemas.openxmlformats.org/officeDocument/2006/relationships" id="270" r:id="Ra0e2b2d1ba92457a"/>
    <p:sldId xmlns:r="http://schemas.openxmlformats.org/officeDocument/2006/relationships" id="271" r:id="R587a92ebcc934aef"/>
    <p:sldId xmlns:r="http://schemas.openxmlformats.org/officeDocument/2006/relationships" id="272" r:id="R456b1753040f4415"/>
    <p:sldId xmlns:r="http://schemas.openxmlformats.org/officeDocument/2006/relationships" id="273" r:id="R89df6262933a47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fbf3f006dc4719" /><Relationship Type="http://schemas.openxmlformats.org/officeDocument/2006/relationships/slideMaster" Target="/ppt/slideMasters/slideMaster1.xml" Id="Ra83045741f434387" /><Relationship Type="http://schemas.openxmlformats.org/officeDocument/2006/relationships/notesMaster" Target="/ppt/notesMasters/notesMaster1.xml" Id="Rafdf0d78f35f4244" /><Relationship Type="http://schemas.openxmlformats.org/officeDocument/2006/relationships/presProps" Target="/ppt/presProps.xml" Id="Rf3c473ca55c34ebe" /><Relationship Type="http://schemas.openxmlformats.org/officeDocument/2006/relationships/tableStyles" Target="/ppt/tableStyles.xml" Id="R1dc79fd1a0e0459b" /><Relationship Type="http://schemas.openxmlformats.org/officeDocument/2006/relationships/slide" Target="/ppt/slides/slide1.xml" Id="R74500c99a2714984" /><Relationship Type="http://schemas.openxmlformats.org/officeDocument/2006/relationships/slide" Target="/ppt/slides/slide2.xml" Id="R7515b5c95a864a4a" /><Relationship Type="http://schemas.openxmlformats.org/officeDocument/2006/relationships/slide" Target="/ppt/slides/slide3.xml" Id="Rfa0c2973edcd4339" /><Relationship Type="http://schemas.openxmlformats.org/officeDocument/2006/relationships/slide" Target="/ppt/slides/slide4.xml" Id="R21ac2a634be54144" /><Relationship Type="http://schemas.openxmlformats.org/officeDocument/2006/relationships/slide" Target="/ppt/slides/slide5.xml" Id="R53fa86e8a12048cf" /><Relationship Type="http://schemas.openxmlformats.org/officeDocument/2006/relationships/slide" Target="/ppt/slides/slide6.xml" Id="Rb03914d4f6964b8c" /><Relationship Type="http://schemas.openxmlformats.org/officeDocument/2006/relationships/slide" Target="/ppt/slides/slide7.xml" Id="R34e71924f785445d" /><Relationship Type="http://schemas.openxmlformats.org/officeDocument/2006/relationships/slide" Target="/ppt/slides/slide8.xml" Id="R6409a1b7624e4438" /><Relationship Type="http://schemas.openxmlformats.org/officeDocument/2006/relationships/slide" Target="/ppt/slides/slide9.xml" Id="R8e8a24c6f405429e" /><Relationship Type="http://schemas.openxmlformats.org/officeDocument/2006/relationships/slide" Target="/ppt/slides/slide10.xml" Id="Rad67b164f9cd4f49" /><Relationship Type="http://schemas.openxmlformats.org/officeDocument/2006/relationships/slide" Target="/ppt/slides/slide11.xml" Id="R908609f4000e429e" /><Relationship Type="http://schemas.openxmlformats.org/officeDocument/2006/relationships/slide" Target="/ppt/slides/slide12.xml" Id="Rce3bc4ce00f646ba" /><Relationship Type="http://schemas.openxmlformats.org/officeDocument/2006/relationships/slide" Target="/ppt/slides/slide13.xml" Id="Rc5bbad8343a04497" /><Relationship Type="http://schemas.openxmlformats.org/officeDocument/2006/relationships/slide" Target="/ppt/slides/slide14.xml" Id="R933731ce5f34465f" /><Relationship Type="http://schemas.openxmlformats.org/officeDocument/2006/relationships/slide" Target="/ppt/slides/slide15.xml" Id="Ra0e2b2d1ba92457a" /><Relationship Type="http://schemas.openxmlformats.org/officeDocument/2006/relationships/slide" Target="/ppt/slides/slide16.xml" Id="R587a92ebcc934aef" /><Relationship Type="http://schemas.openxmlformats.org/officeDocument/2006/relationships/slide" Target="/ppt/slides/slide17.xml" Id="R456b1753040f4415" /><Relationship Type="http://schemas.openxmlformats.org/officeDocument/2006/relationships/slide" Target="/ppt/slides/slide18.xml" Id="R89df6262933a47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77134ffbe145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e3d3fd56f744be" /><Relationship Type="http://schemas.openxmlformats.org/officeDocument/2006/relationships/notesMaster" Target="/ppt/notesMasters/notesMaster1.xml" Id="R00eff3ea3a8045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262bd1749c4c07" /><Relationship Type="http://schemas.openxmlformats.org/officeDocument/2006/relationships/notesMaster" Target="/ppt/notesMasters/notesMaster1.xml" Id="R033c21073d4540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993deea1334054" /><Relationship Type="http://schemas.openxmlformats.org/officeDocument/2006/relationships/notesMaster" Target="/ppt/notesMasters/notesMaster1.xml" Id="Rceb0450dda2e45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948186a5664061" /><Relationship Type="http://schemas.openxmlformats.org/officeDocument/2006/relationships/notesMaster" Target="/ppt/notesMasters/notesMaster1.xml" Id="Ra553b2274e9f40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28f54753714343" /><Relationship Type="http://schemas.openxmlformats.org/officeDocument/2006/relationships/notesMaster" Target="/ppt/notesMasters/notesMaster1.xml" Id="R2e2bcae266fd47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3d7ba1a4a44cf7" /><Relationship Type="http://schemas.openxmlformats.org/officeDocument/2006/relationships/notesMaster" Target="/ppt/notesMasters/notesMaster1.xml" Id="Rce2d0607480148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68c2aad3d649d2" /><Relationship Type="http://schemas.openxmlformats.org/officeDocument/2006/relationships/notesMaster" Target="/ppt/notesMasters/notesMaster1.xml" Id="Rf7c8718f031147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3b8e346e144e28" /><Relationship Type="http://schemas.openxmlformats.org/officeDocument/2006/relationships/notesMaster" Target="/ppt/notesMasters/notesMaster1.xml" Id="R32b36927570540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e77937aa4447b6" /><Relationship Type="http://schemas.openxmlformats.org/officeDocument/2006/relationships/notesMaster" Target="/ppt/notesMasters/notesMaster1.xml" Id="Rb7ce186f05134c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12f787eb8e4a7a" /><Relationship Type="http://schemas.openxmlformats.org/officeDocument/2006/relationships/notesMaster" Target="/ppt/notesMasters/notesMaster1.xml" Id="Rfedd7dec3a6d46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292c06cd2548e1" /><Relationship Type="http://schemas.openxmlformats.org/officeDocument/2006/relationships/notesMaster" Target="/ppt/notesMasters/notesMaster1.xml" Id="Re16aa500513f49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ff3e1a5f924d70" /><Relationship Type="http://schemas.openxmlformats.org/officeDocument/2006/relationships/notesMaster" Target="/ppt/notesMasters/notesMaster1.xml" Id="R41ae564a74ca4d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7ef66b453774ec3" /><Relationship Type="http://schemas.openxmlformats.org/officeDocument/2006/relationships/notesMaster" Target="/ppt/notesMasters/notesMaster1.xml" Id="R4f7d6b0c7cb64b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ad8f84d4af48be" /><Relationship Type="http://schemas.openxmlformats.org/officeDocument/2006/relationships/notesMaster" Target="/ppt/notesMasters/notesMaster1.xml" Id="Re4f8dc3d91ee45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46791fb6624952" /><Relationship Type="http://schemas.openxmlformats.org/officeDocument/2006/relationships/notesMaster" Target="/ppt/notesMasters/notesMaster1.xml" Id="R428092403a4e48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95fde592254990" /><Relationship Type="http://schemas.openxmlformats.org/officeDocument/2006/relationships/notesMaster" Target="/ppt/notesMasters/notesMaster1.xml" Id="Ra37d112e51eb42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68e38d70444a69" /><Relationship Type="http://schemas.openxmlformats.org/officeDocument/2006/relationships/notesMaster" Target="/ppt/notesMasters/notesMaster1.xml" Id="Rc5b38ca26f7f47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b3169de3a394f87" /><Relationship Type="http://schemas.openxmlformats.org/officeDocument/2006/relationships/notesMaster" Target="/ppt/notesMasters/notesMaster1.xml" Id="Rc2b52d55153b48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explicando que esta presentacion separa evidencia real de requisitos aun pendientes.</a:t>
            </a:r>
          </a:p>
          <a:p xmlns:a="http://schemas.openxmlformats.org/drawingml/2006/main">
            <a:r>
              <a:t>No vender 100% si el repositorio todavia no contiene E2E ni carga/Grafana.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esta lamina para ordenar expectativas: hay logros reales y brechas claras.</a:t>
            </a:r>
          </a:p>
          <a:p xmlns:a="http://schemas.openxmlformats.org/drawingml/2006/main">
            <a:r>
              <a:t>Los numeros vienen de docs/evidencias-avance-02 y docs/informe-rendimiento-ecosense.md.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pauta que envio el usuario es de cierre final, no de Avance 02.</a:t>
            </a:r>
          </a:p>
          <a:p xmlns:a="http://schemas.openxmlformats.org/drawingml/2006/main">
            <a:r>
              <a:t>Esta lamina deja claro que hoy no hay evidencia versionada para declarar 100%.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lamina para demostrar avance funcional real, no promesas.</a:t>
            </a:r>
          </a:p>
          <a:p xmlns:a="http://schemas.openxmlformats.org/drawingml/2006/main">
            <a:r>
              <a:t>Cada fila tiene al menos una evidencia asociada en app/src/test.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las reglas centrales se aislaron en dominio para hacer TDD y pruebas JVM.</a:t>
            </a:r>
          </a:p>
          <a:p xmlns:a="http://schemas.openxmlformats.org/drawingml/2006/main">
            <a:r>
              <a:t>Firebase queda como infraestructura; las integraciones se validan con puertos in-memory.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que la trazabilidad no es solo lista de pruebas; cada caso llega a un componente.</a:t>
            </a:r>
          </a:p>
          <a:p xmlns:a="http://schemas.openxmlformats.org/drawingml/2006/main">
            <a:r>
              <a:t>Los pendientes son los requerimientos de cierre final que aun no tienen artefacto en repo.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lamina conecta la pauta con lo que existe y lo que falta.</a:t>
            </a:r>
          </a:p>
          <a:p xmlns:a="http://schemas.openxmlformats.org/drawingml/2006/main">
            <a:r>
              <a:t>No decir que E2E y carga estan listos; decir que son el siguiente cierre.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RF17 como ejemplo corto de red-green-refactor.</a:t>
            </a:r>
          </a:p>
          <a:p xmlns:a="http://schemas.openxmlformats.org/drawingml/2006/main">
            <a:r>
              <a:t>BDD no es un documento suelto: se ejecuta con CucumberRunner.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Aclarar: 100% de escenarios definidos pasan; no significa 100% de todos los CU finales.</a:t>
            </a:r>
          </a:p>
          <a:p xmlns:a="http://schemas.openxmlformats.org/drawingml/2006/main">
            <a:r>
              <a:t>Este matiz evita una observacion del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Enfatizar que el umbral de 70% se cumple en lines y branches para el alcance testeable JVM.</a:t>
            </a:r>
          </a:p>
          <a:p xmlns:a="http://schemas.openxmlformats.org/drawingml/2006/main">
            <a:r>
              <a:t>Si preguntan global de todo repo, explicar que UI y Firebase requieren otra capa.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por que esta integracion es valida: atraviesa componentes y controla infraestructura externa.</a:t>
            </a:r>
          </a:p>
          <a:p xmlns:a="http://schemas.openxmlformats.org/drawingml/2006/main">
            <a:r>
              <a:t>Tambien reconocer que para final falta matriz por todos los CU.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una lamina de brecha, no de cumplimiento.</a:t>
            </a:r>
          </a:p>
          <a:p xmlns:a="http://schemas.openxmlformats.org/drawingml/2006/main">
            <a:r>
              <a:t>Si el docente pide E2E, esta es la tarea que aun hay que implementar.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Diferenciar rendimiento mobile de pruebas de carga de APIs.</a:t>
            </a:r>
          </a:p>
          <a:p xmlns:a="http://schemas.openxmlformats.org/drawingml/2006/main">
            <a:r>
              <a:t>No mezclar Macrobenchmark con Grafana; son objetivos distintos.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Sonar historico esta bien, pero coverage Sonar salia 0.0 por importacion ausente.</a:t>
            </a:r>
          </a:p>
          <a:p xmlns:a="http://schemas.openxmlformats.org/drawingml/2006/main">
            <a:r>
              <a:t>El repo ya tiene sonar.coverage.jacoco.xmlReportPaths configurado.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esta lamina para mostrar calidad no funcional ya trabajada.</a:t>
            </a:r>
          </a:p>
          <a:p xmlns:a="http://schemas.openxmlformats.org/drawingml/2006/main">
            <a:r>
              <a:t>Recordar que no reemplaza pruebas de carga con Grafana.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lamina es el plan de trabajo para convertir la presentacion en final real.</a:t>
            </a:r>
          </a:p>
          <a:p xmlns:a="http://schemas.openxmlformats.org/drawingml/2006/main">
            <a:r>
              <a:t>Sirve para que el equipo no confunda avance fuerte con cierre total.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honestidad y control: el proyecto no esta perdido, pero la pauta final es mas alta.</a:t>
            </a:r>
          </a:p>
          <a:p xmlns:a="http://schemas.openxmlformats.org/drawingml/2006/main">
            <a:r>
              <a:t>Pedir foco al equipo en evidencias, no en rehacer todo.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esta lamina como respaldo si preguntan de donde sale cada dato.</a:t>
            </a:r>
          </a:p>
          <a:p xmlns:a="http://schemas.openxmlformats.org/drawingml/2006/main">
            <a:r>
              <a:t>Abrir PDF o logs si la exposicion incluye demo breve.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1d4bfd39ae47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04209750f54491" /><Relationship Type="http://schemas.openxmlformats.org/officeDocument/2006/relationships/slideLayout" Target="/ppt/slideLayouts/slideLayout1.xml" Id="R3aadac7bd97843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adac7bd97843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fb37db1e64ea6" /><Relationship Type="http://schemas.openxmlformats.org/officeDocument/2006/relationships/notesSlide" Target="/ppt/notesSlides/notesSlide1.xml" Id="R5fa3d5d3233048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7214df04c491f" /><Relationship Type="http://schemas.openxmlformats.org/officeDocument/2006/relationships/notesSlide" Target="/ppt/notesSlides/notesSlide2.xml" Id="Raaa0fcba965741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29d3b405741e2" /><Relationship Type="http://schemas.openxmlformats.org/officeDocument/2006/relationships/notesSlide" Target="/ppt/notesSlides/notesSlide3.xml" Id="R370c05f8863246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b8103aa0743aa" /><Relationship Type="http://schemas.openxmlformats.org/officeDocument/2006/relationships/notesSlide" Target="/ppt/notesSlides/notesSlide4.xml" Id="Rca066bdc58d74d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6442dc7054c7c" /><Relationship Type="http://schemas.openxmlformats.org/officeDocument/2006/relationships/notesSlide" Target="/ppt/notesSlides/notesSlide5.xml" Id="Rd342335917fd4d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125beffc44ea4" /><Relationship Type="http://schemas.openxmlformats.org/officeDocument/2006/relationships/notesSlide" Target="/ppt/notesSlides/notesSlide6.xml" Id="R0306ef618c1546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fee4cdfba4d71" /><Relationship Type="http://schemas.openxmlformats.org/officeDocument/2006/relationships/notesSlide" Target="/ppt/notesSlides/notesSlide7.xml" Id="Raeb0b4d0e61f45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858cf74564cb5" /><Relationship Type="http://schemas.openxmlformats.org/officeDocument/2006/relationships/notesSlide" Target="/ppt/notesSlides/notesSlide8.xml" Id="Rec1f74a3adbe49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e8e1cc0044b2c" /><Relationship Type="http://schemas.openxmlformats.org/officeDocument/2006/relationships/notesSlide" Target="/ppt/notesSlides/notesSlide9.xml" Id="R609e1f04b81a49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fc319354b42ba" /><Relationship Type="http://schemas.openxmlformats.org/officeDocument/2006/relationships/notesSlide" Target="/ppt/notesSlides/notesSlide10.xml" Id="Rd354fd6ebf8b4a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e1d59d378448c" /><Relationship Type="http://schemas.openxmlformats.org/officeDocument/2006/relationships/notesSlide" Target="/ppt/notesSlides/notesSlide11.xml" Id="Re26e00d6569b46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81e78aece4342" /><Relationship Type="http://schemas.openxmlformats.org/officeDocument/2006/relationships/notesSlide" Target="/ppt/notesSlides/notesSlide12.xml" Id="R233f5f504c6540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3c753dcff409c" /><Relationship Type="http://schemas.openxmlformats.org/officeDocument/2006/relationships/notesSlide" Target="/ppt/notesSlides/notesSlide13.xml" Id="Rd42e921415dc450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c0e4ce7754bc9" /><Relationship Type="http://schemas.openxmlformats.org/officeDocument/2006/relationships/notesSlide" Target="/ppt/notesSlides/notesSlide14.xml" Id="Rf3a24d9330da456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09b26b5364495" /><Relationship Type="http://schemas.openxmlformats.org/officeDocument/2006/relationships/notesSlide" Target="/ppt/notesSlides/notesSlide15.xml" Id="Re28b84b469a84f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6c6b3f4a64664" /><Relationship Type="http://schemas.openxmlformats.org/officeDocument/2006/relationships/notesSlide" Target="/ppt/notesSlides/notesSlide16.xml" Id="R43e271fa26fd48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52c4fd6214c1f" /><Relationship Type="http://schemas.openxmlformats.org/officeDocument/2006/relationships/notesSlide" Target="/ppt/notesSlides/notesSlide17.xml" Id="R918b3ed4772849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4bd14386a46eb" /><Relationship Type="http://schemas.openxmlformats.org/officeDocument/2006/relationships/notesSlide" Target="/ppt/notesSlides/notesSlide18.xml" Id="R313ac5b6355840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F36A09-04A9-43F0-BB9A-7A1481C8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666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20618"/>
                </a:solidFill>
              </a:defRPr>
            </a:pPr>
            <a:r>
              <a:rPr sz="5400" b="1">
                <a:solidFill>
                  <a:srgbClr val="020618"/>
                </a:solidFill>
              </a:rPr>
              <a:t>EcoSense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18D1C-D8C9-41E7-9AD0-561B109C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5556C"/>
                </a:solidFill>
              </a:defRPr>
            </a:pPr>
            <a:r>
              <a:rPr sz="2250" b="0">
                <a:solidFill>
                  <a:srgbClr val="45556C"/>
                </a:solidFill>
              </a:rPr>
              <a:t>Presentación final de calidad y evidencias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276D3-3820-4ED7-B3B0-906A9552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20618"/>
                </a:solidFill>
              </a:defRPr>
            </a:pPr>
            <a:r>
              <a:rPr sz="1800" b="1">
                <a:solidFill>
                  <a:srgbClr val="020618"/>
                </a:solidFill>
              </a:rPr>
              <a:t>UFRO Sustentable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90073-C3A1-4E66-BBAD-6433EAB4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514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Equipo: Billy Martinez, Bastian Lagos</a:t>
            </a:r>
          </a:p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Curso: Pruebas de software</a:t>
            </a:r>
          </a:p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Fecha: 24/06/2026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AEAD6-0278-48D8-B4CF-320CF1BD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18110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14E7C-08E5-4430-85A0-9B1404EC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352550"/>
            <a:ext cx="133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4765F-0704-4BB1-9898-7630D7C5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6215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tests JVM pasan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4D93D-FC08-4B7E-9B98-31164B7F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181100"/>
            <a:ext cx="2000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D346E-D45F-429D-81EB-8B3209F5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3525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89.23%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DA3BF-098C-4144-BCEC-82267876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62150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coverage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66670-2078-421D-B95B-F23F76A0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9560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34F36-522A-4DB0-8BFB-88B141AF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67050"/>
            <a:ext cx="133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4900"/>
                </a:solidFill>
              </a:defRPr>
            </a:pPr>
            <a:r>
              <a:rPr sz="3300" b="1">
                <a:solidFill>
                  <a:srgbClr val="F54900"/>
                </a:solidFill>
              </a:rPr>
              <a:t>8/20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31CE7-CC78-41BE-9F88-91FB03B8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7665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CU evidenciados hoy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612C5-DF95-4C5F-9517-96EF7C31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2000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91B03-B9D6-422A-8F4C-B4D53425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670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4900"/>
                </a:solidFill>
              </a:defRPr>
            </a:pPr>
            <a:r>
              <a:rPr sz="3300" b="1">
                <a:solidFill>
                  <a:srgbClr val="F54900"/>
                </a:solidFill>
              </a:rPr>
              <a:t>Parcial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02EED-700D-4469-9D2A-844E61A1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76650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estado de pauta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D413B-A4D1-4B86-BDED-DDAF92D3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6403D-07D0-460F-8595-8CF121C1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62812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E2B491-195A-4E4C-A96E-1E4B6D54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MENSAJE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04535-001E-457A-B9D9-FE0ACBBD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Resumen Ejecutivo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E072F-9B00-4D70-B23C-CA9AAF93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576CB-0503-4D11-88EB-D077F9EC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666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20618"/>
                </a:solidFill>
              </a:defRPr>
            </a:pPr>
            <a:r>
              <a:rPr sz="1725" b="0">
                <a:solidFill>
                  <a:srgbClr val="020618"/>
                </a:solidFill>
              </a:rPr>
              <a:t>• EcoSense promueve reciclaje universitario con puntos, grupos, ranking, historial, recompensas y mapa.</a:t>
            </a:r>
          </a:p>
          <a:p xmlns:a="http://schemas.openxmlformats.org/drawingml/2006/main">
            <a:pPr algn="l">
              <a:defRPr sz="1725" b="0">
                <a:solidFill>
                  <a:srgbClr val="020618"/>
                </a:solidFill>
              </a:defRPr>
            </a:pPr>
            <a:r>
              <a:rPr sz="1725" b="0">
                <a:solidFill>
                  <a:srgbClr val="020618"/>
                </a:solidFill>
              </a:rPr>
              <a:t>• La evidencia actual certifica el bloque RF10-RF17: grupos, ranking y recompensas.</a:t>
            </a:r>
          </a:p>
          <a:p xmlns:a="http://schemas.openxmlformats.org/drawingml/2006/main">
            <a:pPr algn="l">
              <a:defRPr sz="1725" b="0">
                <a:solidFill>
                  <a:srgbClr val="020618"/>
                </a:solidFill>
              </a:defRPr>
            </a:pPr>
            <a:r>
              <a:rPr sz="1725" b="0">
                <a:solidFill>
                  <a:srgbClr val="020618"/>
                </a:solidFill>
              </a:rPr>
              <a:t>• La suite JVM pasa completa: 83 tests, 0 failures, 0 errors.</a:t>
            </a:r>
          </a:p>
          <a:p xmlns:a="http://schemas.openxmlformats.org/drawingml/2006/main">
            <a:pPr algn="l">
              <a:defRPr sz="1725" b="0">
                <a:solidFill>
                  <a:srgbClr val="020618"/>
                </a:solidFill>
              </a:defRPr>
            </a:pPr>
            <a:r>
              <a:rPr sz="1725" b="0">
                <a:solidFill>
                  <a:srgbClr val="020618"/>
                </a:solidFill>
              </a:rPr>
              <a:t>• Cobertura local JaCoCo supera el umbral: 89.23% lines y 77.88% branches.</a:t>
            </a:r>
          </a:p>
          <a:p xmlns:a="http://schemas.openxmlformats.org/drawingml/2006/main">
            <a:pPr algn="l">
              <a:defRPr sz="1725" b="0">
                <a:solidFill>
                  <a:srgbClr val="020618"/>
                </a:solidFill>
              </a:defRPr>
            </a:pPr>
            <a:r>
              <a:rPr sz="1725" b="0">
                <a:solidFill>
                  <a:srgbClr val="020618"/>
                </a:solidFill>
              </a:rPr>
              <a:t>• La pauta final exige 100% CU, E2E, carga/estres con Grafana y Sonar actualizado; eso aun debe cerrarse.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D2EE6-F8FA-490F-BE17-95670F0A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DA0C2-4CBE-4C6B-8745-B3C0DF00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2405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8.02 MiB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871F8-EF14-4C02-8E4D-95B3F6E9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APK release despues de optimizacion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01A1B-183F-4950-B3E0-2299AB0D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22A3C-1810-4E90-92C4-8058CA7A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3.842 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4DFF4-B743-4200-9C39-955A09A8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195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startup mediana ADB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7B8FC-220A-49DB-8347-C0BC73D3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4900"/>
                </a:solidFill>
              </a:defRPr>
            </a:pPr>
            <a:r>
              <a:rPr sz="1800" b="1">
                <a:solidFill>
                  <a:srgbClr val="F54900"/>
                </a:solidFill>
              </a:rPr>
              <a:t>Lectura honesta: la base de calidad existe, pero la presentacion final completa requiere evidencia adicional.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F9E94-9CC1-41A1-AA41-FF29F6EC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F14DC-18CC-4ACA-8553-673B6BC7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830786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E12F54-31CC-49DD-BBEB-4B0AEAF7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CASOS DE USO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0B110-1131-40B8-BA77-7AC875A3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Alcance Funcional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CAA54-0BD2-4D7F-BB27-CCCBD67B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4C0A7-1A28-4DD5-90ED-F30E6194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FAA36-12E8-4AE4-9F9E-A7D2F9E6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Bloque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9DE54-BB12-434D-8E03-207D2B13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6764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CDA1E-4F40-47FE-8C9D-6CE161FA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526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Estado actual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A562C-83A0-4316-A94A-6436465E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76400"/>
            <a:ext cx="514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7DD02-4E71-43DE-BDC8-4C4C854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52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Evidencia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2376C6-16E3-4439-9F04-C7DDDD31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1CD4F-8CA2-4F28-8019-22E5D4A5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RF10-RF17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F21BC-1767-4744-95D1-A11DDC7A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62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4A9E52-5784-4D7C-BFB3-07D7591A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384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Implementado y probado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20350-765A-401B-8988-D77553CC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62200"/>
            <a:ext cx="514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34484-F498-40A5-B23F-E53B9384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384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Unitarias, BDD e integracion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1CB9B-E4C6-4757-9898-CDADC56B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15B3C-F20F-42F5-AA4C-6B54D809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RF01-RF09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92711C-B101-497E-997B-87123B7C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480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ADC2E4-3833-4ABB-94F1-77E4209B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242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 de evidencia final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15F328-4F41-4C83-B14F-09B27051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48000"/>
            <a:ext cx="514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2AFBE-7CDF-4D11-9D57-8658BB93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Requiere matriz CU, E2E e integracion por CU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AC191B-2813-45C8-92F1-67C229F6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0F56D0-259D-4408-BE13-AA5552F0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RF18-RF20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2E31B-7E67-4D62-ADB0-2407E3F8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7338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18E720-D560-49FF-B644-13ECE65B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100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 de evidencia final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58CD5-1DF5-4DE7-B69C-E6DA1A60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733800"/>
            <a:ext cx="514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E9BC91-B317-49F6-8F57-5541BA1C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10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Requiere escenarios, pruebas y demo funcional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CD9A09-79B9-48FB-B236-3B14D7F0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28D4EB-D0A7-4094-BB80-79630697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Pauta final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016BBF-FDA1-45AE-8D50-28CA15BE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196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C0AF8F-E2A3-4249-A5CF-58868128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958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100% requerido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57156-D7B8-43AF-B21A-435D02B2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419600"/>
            <a:ext cx="514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F108B8-D4DB-46CB-9A81-2E47A037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4958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Debe cerrarse antes de defender como entrega final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1B368B-52D8-404E-80A4-6B01F2BB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4900"/>
                </a:solidFill>
              </a:defRPr>
            </a:pPr>
            <a:r>
              <a:rPr sz="1875" b="1">
                <a:solidFill>
                  <a:srgbClr val="F54900"/>
                </a:solidFill>
              </a:rPr>
              <a:t>Base usada en Avance 02: 20 CU/RF planificados; 8 evidenciados = 40%.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1BEE2E-5250-48F1-8604-3AF105A5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F9ED3A-F59E-4D6A-A0E0-149186A2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2791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A7469B-5B00-49F7-9B2E-7174C2B7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RF10-RF17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4E7BF4-C8BA-4C27-9D5C-49C71F56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Funcionalidades Implementadas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5E08B9-0E7B-4F2B-B8BD-463FA373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EBACE-DAC3-4B88-86AF-9FA70013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5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F5F12-C187-4ABA-9801-6CC18D7B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20618"/>
                </a:solidFill>
              </a:defRPr>
            </a:pPr>
            <a:r>
              <a:rPr sz="1200" b="1">
                <a:solidFill>
                  <a:srgbClr val="020618"/>
                </a:solidFill>
              </a:rPr>
              <a:t>RF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2950E-5D4F-43D9-BF22-B45CC60D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154305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F3644-ECB8-4AC8-B5CA-5B3C76D8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161925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20618"/>
                </a:solidFill>
              </a:defRPr>
            </a:pPr>
            <a:r>
              <a:rPr sz="1200" b="1">
                <a:solidFill>
                  <a:srgbClr val="020618"/>
                </a:solidFill>
              </a:rPr>
              <a:t>Funcionalidad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B2F60-54C0-4EBB-A906-A070FE8F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154305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8CE7C-217D-4B37-B3E4-6765D2D3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161925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20618"/>
                </a:solidFill>
              </a:defRPr>
            </a:pPr>
            <a:r>
              <a:rPr sz="1200" b="1">
                <a:solidFill>
                  <a:srgbClr val="020618"/>
                </a:solidFill>
              </a:rPr>
              <a:t>Servicio / prueba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1BFAA-9F88-4555-A9EE-9E0B3856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71C0B-7417-41E0-8C45-DE6B85F9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9417D7-C620-47C4-85E4-EA77328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201930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7D70F-44C7-438E-B1C2-B7CFBB6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209550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 global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92494D-4DD4-4FAF-917A-D51BD014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201930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5559C-D551-4A53-9B56-E99D943F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209550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RankingService · RF10RankingGlobalSpec · BDD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C04BE3-CD7C-48A3-A4F5-931E8555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F8833-0171-4A7F-9164-6F5D439B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C5DD7-E38F-4CA3-90E6-D855F13C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249555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CC456-E097-4B2F-82DC-AAE180C8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257175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Crear grupo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77F8A-AB04-4E13-8572-7416BD8C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249555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302DB1-5C3A-47B1-8271-3DF1491B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257175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GrupoService + ApplicationService · IT-01/02/09/10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E59C6F-7102-472C-82D0-72ACC1A4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B2BE27-ADDF-4C86-9988-EA7BACB6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F3B353-1718-477B-BC57-93630F8E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297180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AF3C4-71B9-4EB5-A97B-D43BD2AF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304800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Unirse a grupo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705CC7-4518-4E07-9247-B0CD9C41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297180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71FE8B-3D88-463B-8240-05B968D2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304800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GrupoService · unirse_grupo.feature · IT-03/04/11/12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E62981-735D-4696-A711-9D5124D1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133CFA-0D12-4165-B0C2-06A3223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27DEA4-7172-42D0-B9D4-4B8A6494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344805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C190AD-3EA9-43E8-81FB-005E6390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352425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 interno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D75303-7691-462F-B8BC-6739AA5F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344805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35A065-6FCB-4FF8-AB85-65DBF4E8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352425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RankingService · RF13RankingGrupoSpec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BBA283-C42C-4060-89EC-5173579C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CF4C95-F552-48FD-8A66-054023F0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826FD4-B538-4AC2-BA18-3EFCF742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392430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6372A6-4253-4197-9AD7-FC5D6DC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400050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Puntos grupales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C0FFF7-A92B-43CB-9E60-7BF04205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392430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8DC9BB-EC99-40DB-9F01-806E261C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400050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GrupoApplicationService · IT-13/14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CB6A7F-6E04-451A-AC57-35AE07F2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02B3BF-7BD1-48B2-8EDE-CBA01CBA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9FFB5C-3650-4A3C-966B-FE94B73E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440055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4346CC-5BDE-4BEE-86B8-EF318011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447675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Recompensas grupales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57651C-850F-4534-AA20-429A081E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440055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FA5D68-8F88-4217-96FE-27158763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447675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GrupoService · RF15RecompensasGrupalesSpec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C88ECC-8990-4072-B069-F9846B89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B8E100-C74D-4A5F-93B4-DD34BAE6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19B3716-1FC6-42A2-B91B-0974EB52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487680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42BAD7-4B15-4383-8585-9FAC9F0F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495300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Administrar miembros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C53F0F-D219-40DF-8E05-88045AE2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487680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F0D192-90A9-4318-8DCD-7C8A1935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495300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GrupoService · RF16AdminGrupoSpec · BDD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17617B-BC22-4A87-95DC-223A82DB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53050"/>
            <a:ext cx="101228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94AEA0-579E-4EE4-A480-78DAF7D1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82178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17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B371CF3-FF35-4E07-99A6-66AD4BE1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35" y="5353050"/>
            <a:ext cx="326180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D75C12-74F1-4C8B-BAB7-4BF5EE22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285" y="5429250"/>
            <a:ext cx="3071306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 grupal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73D961-12BB-4BD6-8054-3B502D74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840" y="5353050"/>
            <a:ext cx="629866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59C85C0-AE1A-45F1-9A43-B0D97E38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090" y="5429250"/>
            <a:ext cx="61081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20618"/>
                </a:solidFill>
              </a:defRPr>
            </a:pPr>
            <a:r>
              <a:rPr sz="1200" b="0">
                <a:solidFill>
                  <a:srgbClr val="020618"/>
                </a:solidFill>
              </a:rPr>
              <a:t>RankingService · RF17RankingGrupalSpec · IT-15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FE430E-3694-4C0F-9F53-9CD8820A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3D2AF3-D89C-4966-88B2-C90602F3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617831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5B03E1-3377-4DDB-B41A-1CA7E7FF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CAPAS Y CONTENEDORES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D1DE6-1C07-4D6F-AA6B-935ACD6B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Arquitectura Final Esperada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04161-77DB-43DD-B1C9-52954EBD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39122-6230-4F89-98F3-B4AEDC53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UI Android</a:t>
            </a:r>
          </a:p>
          <a:p xmlns:a="http://schemas.openxmlformats.org/drawingml/2006/main">
            <a:pPr algn="ctr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Jetpack Compose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ECE30-11C9-4371-A383-05CEDFD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ViewModel / Repository</a:t>
            </a:r>
          </a:p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estado + Firebase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D2047-6391-4F3E-8F6B-B6C88BCB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Application Services</a:t>
            </a:r>
          </a:p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orquestacion CU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CD608-E363-4655-B905-06F098F5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Dominio puro</a:t>
            </a:r>
          </a:p>
          <a:p xmlns:a="http://schemas.openxmlformats.org/drawingml/2006/main">
            <a:pPr algn="ctr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Grupo / Ranking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742DE-7992-4122-9088-104455AF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14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Firebase</a:t>
            </a:r>
          </a:p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Auth · Firestore · Storage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5E681-FC27-4BD7-9F43-359ADDCA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Puertos/Fakes</a:t>
            </a:r>
          </a:p>
          <a:p xmlns:a="http://schemas.openxmlformats.org/drawingml/2006/main">
            <a:pPr algn="ctr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integracion reproducible</a:t>
            </a:r>
          </a:p>
        </p:txBody>
      </p:sp>
      <p:cxnSp>
        <p:nvCxnSpPr>
          <p:cNvPr id="2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762250" y="22002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solid"/>
          </a:ln>
        </p:spPr>
      </p:cxnSp>
      <p:cxnSp>
        <p:nvCxnSpPr>
          <p:cNvPr id="2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429250" y="22002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solid"/>
          </a:ln>
        </p:spPr>
      </p:cxn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191500" y="22002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solid"/>
          </a:ln>
        </p:spPr>
      </p:cxnSp>
      <p:cxnSp>
        <p:nvCxnSpPr>
          <p:cNvPr id="30" name=""/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4429125" y="2590800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dash"/>
          </a:ln>
        </p:spPr>
      </p:cxnSp>
      <p:cxnSp>
        <p:nvCxnSpPr>
          <p:cNvPr id="31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7143750" y="2590800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48E"/>
            </a:solidFill>
            <a:prstDash val="dash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B458B4-CC2B-4FDC-81D5-0B29B5D8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5556C"/>
                </a:solidFill>
              </a:defRPr>
            </a:pPr>
            <a:r>
              <a:rPr sz="1425" b="0">
                <a:solidFill>
                  <a:srgbClr val="45556C"/>
                </a:solidFill>
              </a:rPr>
              <a:t>Fuente: diagramas C4 versionados en docs/diagramas-c4 y servicios bajo app/src/main/kotlin.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6510A-4D40-4F40-9950-6DD0DE83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21683-2EFF-46C4-8B8D-2C039C1E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714032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F5884F-3F39-4715-82C0-D4C5213A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TRAZABILIDAD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26468-4BD9-4A5D-980D-BCC454CE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Mapeo CU a Componentes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E5FE9-8052-4E5A-8324-B46566E0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51EA5-551F-4508-9C86-65EC1AE9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41B7D0-6E74-4F9C-A3A7-CC498D9C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CU/RF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61B95-67F7-4EE1-9505-872C849D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173355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89048-3E48-46CE-8593-D11A2778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180975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Componente principal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619E9-02ED-4825-96C1-93E8FF2F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173355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4841B-8E01-4907-A350-EA3D3C03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180975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Tipo de evidencia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42013-0813-4EB8-B08B-B6F45E73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03D11-4666-4B32-BCF1-3FF7BCE9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RF10, RF13, RF17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278F4-9774-4B81-823E-2A6E7DDC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240030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3BD14-CC42-4474-B948-C701C497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247650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RankingService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B39CF-A231-453A-94EA-0F6D26DB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240030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B8D00-5661-4024-A57F-61875722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247650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Unitarias + BDD + integracion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E5E81-6384-41D4-B545-6193ACE4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D5B8D4-6843-4A63-998B-7F261304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RF11, RF12, RF14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370772-B0C6-40C5-8D3B-5CFEE50F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306705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82EAA-4FD5-446E-87C0-26A883BA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314325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GrupoApplicationService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D2172-8AB1-4A15-A3BB-C463DCC3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306705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3B257-364F-4DD8-A990-84F07372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314325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Integracion con repos y eventos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FE3CB-CF9C-4048-85A6-EB7CDAB8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882B5A-3AB5-4A44-A509-BA5F486F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RF15, RF16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013BB7-0FBB-4FDD-B285-9B8B9416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373380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EF327D-161F-4B83-B5CF-8BC96BD9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381000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GrupoService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607EF0-1EC5-4A6B-B63D-30407BDA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373380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CABEF5-0097-48A8-816B-45A40082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381000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Reglas de dominio y casos borde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6CAC05-C259-4AA9-ACCA-F1FB552F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76426-4476-404B-B1E2-A440F1C7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Reciclaje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3187FE-DF49-431A-B084-C29B0A40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440055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16D96B-040C-4491-8E6F-4C7620A5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447675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RecyclingApplicationService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4A9472-0854-4540-BB73-08243F0F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440055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0A6C93-2611-4D68-8D8C-9473C7E9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447675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IT-05 a IT-08, IT-16, IT-17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D753EC-360C-4DB9-BC3C-A0C3B486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2099388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EED246-BD27-4140-A0BE-73F8F805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190888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Pendientes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550CE-C967-48D1-8ACB-892B6087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438" y="5067300"/>
            <a:ext cx="3568959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AEF034-CA3B-4467-A28F-9608648E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688" y="5143500"/>
            <a:ext cx="337845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UI/E2E + APIs de carga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0C3E87-C124-4B8B-B2EF-B042D2DF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397" y="5067300"/>
            <a:ext cx="4618653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502B0D-B8CC-4FF1-A82F-797B26EB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647" y="5143500"/>
            <a:ext cx="442815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Playwright/Appium/k6/Grafana por definir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3B5CC2-0DCA-4D54-909A-E1178FF4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58C9B7-E593-4E1F-98B0-89910E94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10862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8017F-0559-404E-9C82-9074FFAE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PIRAMIDE DE PRUEBAS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06AF3E-DC2B-4238-9C5D-19E7F4EB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Estrategia de Calidad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F5660-D896-4C43-858F-6F10D743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4691D-CB22-4EE7-B4D7-A177BA76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190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82AE7-007D-4EDC-936E-E0EDD375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62150"/>
            <a:ext cx="1847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84F455-415B-45E1-AC6E-11703FEC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unitarias + dominio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BC259-2221-4090-B326-D1C636D9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476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4787A-5B87-4CF3-AF11-CC7FD26E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IT-01..17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3B9BD-A2B8-4812-A021-EC6F390D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71750"/>
            <a:ext cx="213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integracion documentada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2F1BB-C802-4395-AA82-E0566E13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90700"/>
            <a:ext cx="2476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97C57B-94EB-42A8-B9DC-4DDC4276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621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A853F1-E31E-47E7-BB0A-3E2FF330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71750"/>
            <a:ext cx="213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BDD automatizado definido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79195-B5C6-47EA-9AF4-D6703225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90700"/>
            <a:ext cx="2190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BA580-2406-4BF3-9A23-B754780C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62150"/>
            <a:ext cx="1847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4900"/>
                </a:solidFill>
              </a:defRPr>
            </a:pPr>
            <a:r>
              <a:rPr sz="3300" b="1">
                <a:solidFill>
                  <a:srgbClr val="F54900"/>
                </a:solidFill>
              </a:rPr>
              <a:t>pendiente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FFEEE0-8A8F-4A25-A02E-B4BB0D31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717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E2E final requerido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B58E4-67EB-489F-8C33-144DDBE4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09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TDD: Kotest BehaviorSpec sobre servicios de dominio.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BDD: Cucumber/Gherkin con glue code en app/src/test/kotlin/steps.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Integracion: servicios de aplicacion + repositorios in-memory + eventos.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Calidad estatica: SonarQube historico + JaCoCo listo para importar.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Performance: Macrobenchmark, Baseline Profile y mediciones ADB.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5AB26A-7C9A-4110-A44C-1A1438B2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33C68-7334-4FC7-8818-E1509D97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81596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C1144B-4C72-4881-B1AF-45FEEE61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PROCESO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FE0ED-269A-48B3-8B6B-2DFB264A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TDD + BDD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33907-D121-4EDD-BEDB-3D02F2B2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1EFF4-C23B-44A2-A837-61E204D9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220265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A112B-0A47-4102-BE82-462ABDD8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20121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Practica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D20A5-81EB-407B-9EBD-5E0E6BF5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506" y="1676400"/>
            <a:ext cx="396478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8ACE6-B966-42F5-A51A-E1E9CF1D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756" y="1752600"/>
            <a:ext cx="37742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Evidencia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E148B-D447-47D6-98F1-BA1F8650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1676400"/>
            <a:ext cx="4405313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92B5A-A141-4C80-8B94-487DCBF5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1752600"/>
            <a:ext cx="421481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9C66A-A811-427A-91BB-91F2BCBB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20265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60B1F-6CDA-4E63-B77D-FA0882DD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20121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TDD ranking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F4B67-7D37-4679-A2C7-1DA60433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506" y="2362200"/>
            <a:ext cx="396478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13247-C36B-4090-8388-9409F10E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756" y="2438400"/>
            <a:ext cx="37742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RF10/RF13/RF17 specs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86275-84BA-4FC2-84B2-6C9C5B0D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2362200"/>
            <a:ext cx="4405313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FB6BE-63E4-49B0-B8E3-143CB104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2438400"/>
            <a:ext cx="421481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Ordenamientos deterministas y casos borde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F0BBC-A6F5-4B23-8055-A0ED020D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220265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9013F-EA8E-4709-BD33-2E682DEC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20121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TDD grupos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4F161-1462-47F6-B765-23647F03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506" y="3048000"/>
            <a:ext cx="396478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5CC19A-2B06-49E1-BF51-BE736EF9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756" y="3124200"/>
            <a:ext cx="37742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RF11/RF12/RF14/RF15/RF16 specs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B967B-1071-46A4-B77B-85B2534C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3048000"/>
            <a:ext cx="4405313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500BF8-5A09-4F50-9E0D-637D6F05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3124200"/>
            <a:ext cx="421481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Reglas puras sin Android/Firebase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CF867A-DF01-4118-A74F-F7016439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220265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2E796-01E8-41FC-9CBC-938036DF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20121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BDD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0D246E-C50F-4F55-8F2A-52FFE948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506" y="3733800"/>
            <a:ext cx="396478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5F1162-098E-43AF-B166-76967533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756" y="3810000"/>
            <a:ext cx="37742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grupos_ranking_recompensas.feature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61BCC9-A409-4C6D-9962-837E33D7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3733800"/>
            <a:ext cx="4405313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EE2DAA-0A43-4E7A-B015-FF33B62B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3810000"/>
            <a:ext cx="421481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Escenarios ejecutables para RF10-RF17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238E5B-C960-4A31-9CAA-AAEB8C66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220265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311B82-BBF9-4881-A20E-53CF4FB8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20121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Glue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D9B8E7-D27B-4A69-9347-58B4CE72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506" y="4419600"/>
            <a:ext cx="396478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602423-BF7B-4133-8587-D218592D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756" y="4495800"/>
            <a:ext cx="37742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GruposRankingSteps.kt / UnirseGrupoSteps.kt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D1BA9-28A9-4D82-A7BB-2D351CBA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4419600"/>
            <a:ext cx="4405313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AFD92-C6C9-4817-8945-2D0D3D64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4495800"/>
            <a:ext cx="421481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Steps llaman servicios reales de dominio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213544-0197-4C13-8DAB-A6879476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20618"/>
                </a:solidFill>
              </a:defRPr>
            </a:pPr>
            <a:r>
              <a:rPr sz="1800" b="1">
                <a:solidFill>
                  <a:srgbClr val="020618"/>
                </a:solidFill>
              </a:rPr>
              <a:t>Mensaje clave: el comportamiento se especifica primero y se valida con servicios reutilizados por la app.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B58899-0A9B-4158-A67D-B4E3BA8A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CF5C08-C4CE-4E08-8389-DA23B285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23432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057FBD-F1BF-4DAD-82F6-2C7C31B5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BDD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D4201-4477-4DC1-93CA-74D9EEB2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Escenario Gherkin Representativo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9A24D-7866-4617-B6C3-1F353370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CE307-6760-400E-92F0-52520B70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71650"/>
            <a:ext cx="619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10F07-314F-44CF-8038-525C6B74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715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Escenario: RF17 calcular ranking grupal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Dado los siguientes grupos para ranking grupal: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  | id | nombre           | puntajeTotal |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  | G1 | EcoVerde         | 500          |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  | G2 | RecicladoresUFRO | 800          |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Cuando calculo el ranking grupal</a:t>
            </a:r>
          </a:p>
          <a:p xmlns:a="http://schemas.openxmlformats.org/drawingml/2006/main">
            <a:pPr algn="l">
              <a:defRPr sz="1425" b="0">
                <a:solidFill>
                  <a:srgbClr val="020618"/>
                </a:solidFill>
              </a:defRPr>
            </a:pPr>
            <a:r>
              <a:rPr sz="1425" b="0">
                <a:solidFill>
                  <a:srgbClr val="020618"/>
                </a:solidFill>
              </a:rPr>
              <a:t>Entonces el primer grupo debe ser "G2"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A7F2E-A4A8-45F3-8C18-053027BF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71650"/>
            <a:ext cx="3429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1163D-2270-4673-83FB-068DACFC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38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20618"/>
                </a:solidFill>
              </a:defRPr>
            </a:pPr>
            <a:r>
              <a:rPr sz="1950" b="1">
                <a:solidFill>
                  <a:srgbClr val="020618"/>
                </a:solidFill>
              </a:rPr>
              <a:t>Glue/steps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0BDD79-38C8-4ACB-8C7E-1A782BC8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71750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• DataTable → modelos Grupo</a:t>
            </a:r>
          </a:p>
          <a:p xmlns:a="http://schemas.openxmlformats.org/drawingml/2006/main">
            <a:pPr algn="l"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• RankingService.obtenerRankingGrupal()</a:t>
            </a:r>
          </a:p>
          <a:p xmlns:a="http://schemas.openxmlformats.org/drawingml/2006/main">
            <a:pPr algn="l"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• assertEquals sobre ID esperado</a:t>
            </a:r>
          </a:p>
          <a:p xmlns:a="http://schemas.openxmlformats.org/drawingml/2006/main">
            <a:pPr algn="l"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• Sin duplicar reglas de negocio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93BB1-C0A0-4BA4-B9AA-E7761571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A55"/>
                </a:solidFill>
              </a:defRPr>
            </a:pPr>
            <a:r>
              <a:rPr sz="1875" b="1">
                <a:solidFill>
                  <a:srgbClr val="007A55"/>
                </a:solidFill>
              </a:rPr>
              <a:t>Estado: 100% de los escenarios Gherkin definidos en el repo pasan.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1B534-B3EC-4E47-B039-6F3E42D1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40660-BE49-4705-87D4-00912206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57258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1F2417-EA29-47D3-9F95-28DE2DC0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COBERTURA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88E0-F40D-4877-828E-D1F6F92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Pruebas Unitarias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8AD66-E539-4FAC-80CA-7BA49E56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220AD-33B5-4B2A-800D-F0E04CF4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809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94172-DDC0-4660-BDF4-5CD39B7D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9F1F22-FB40-48C8-BFBE-91C48312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90800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tests JVM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E7265-605F-4015-89EC-51C6CAFD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2095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EB8E4-3A2A-408E-A64D-9C9913FF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0/0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E0EE1-2B7F-4321-9874-8290AED8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90800"/>
            <a:ext cx="175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failures/errors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46BB4-7EDF-4C47-BF6C-35796D38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809750"/>
            <a:ext cx="2095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2FA78-044C-4912-8AF4-6DADB5CC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89.23%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6EE45-9E93-4DB5-A160-8001EBB1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90800"/>
            <a:ext cx="175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lines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087A0-5207-4FA2-B5EB-25AA70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09750"/>
            <a:ext cx="2095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69D81-7C2B-4FCB-985E-2FE20649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812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77.88%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05E473-2182-4E0C-9343-02A3BD53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90800"/>
            <a:ext cx="175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branches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770531-091C-476A-8F60-5A61D238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09750"/>
            <a:ext cx="1714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4FFA5-18ED-4036-8623-33636BE0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81200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76.5%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5828A-B9C5-43B3-8DC8-592AB13C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908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instructions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EEE4C-52B6-493C-B064-00C66FA4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• Comando: .\gradlew.bat :app:jacocoDebugUnitTestReport --rerun-tasks --console=plain</a:t>
            </a:r>
          </a:p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• Reporte HTML: app/build/reports/jacoco/jacocoDebugUnitTestReport/html/index.html</a:t>
            </a:r>
          </a:p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• Resumen versionado: docs/evidencias-avance-02/jacoco-summary.txt</a:t>
            </a:r>
          </a:p>
          <a:p xmlns:a="http://schemas.openxmlformats.org/drawingml/2006/main">
            <a:pPr algn="l">
              <a:defRPr sz="1575" b="0">
                <a:solidFill>
                  <a:srgbClr val="020618"/>
                </a:solidFill>
              </a:defRPr>
            </a:pPr>
            <a:r>
              <a:rPr sz="1575" b="0">
                <a:solidFill>
                  <a:srgbClr val="020618"/>
                </a:solidFill>
              </a:rPr>
              <a:t>• Excluido justificadamente del porcentaje: UI Compose/Firebase directo requiere instrumentacion/E2E.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2C780-8864-45D2-B6C1-1B4B3B41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E12D1C-DC29-44C2-ABCB-B8DEB011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680447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4A6E26-DD6B-4A76-814D-71CF729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SERVICIOS + PUERTOS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7622B6-705E-489F-ABC7-573ED314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Pruebas de Integracion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CB0A1-4F74-4D50-80BF-ADEE7060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2A0C3-5678-4F92-9450-7C31E61F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2188723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8E168-C163-406D-B369-68C7E91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998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Suite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352ED-1EE0-45A2-9D8B-35012649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773" y="1733550"/>
            <a:ext cx="4377447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BC333-B675-4431-838D-EF855313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023" y="1809750"/>
            <a:ext cx="41869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Que integra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DA67E-E2DA-4FA6-AFF7-C93DBB5E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20" y="1733550"/>
            <a:ext cx="372083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E8D3C-442D-4A73-84D4-6EB3363E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470" y="1809750"/>
            <a:ext cx="3530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1B5DA-C837-440A-ABEC-36EC1DCF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2188723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8FBA8-14AB-4B3E-8C67-A130F83A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998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IT-01..04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82DF3-3CC1-43C8-9F35-13F75213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773" y="2476500"/>
            <a:ext cx="4377447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1F488-C4A3-4C9D-83D0-A1EA8263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023" y="2552700"/>
            <a:ext cx="41869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GrupoApplicationService + repos + eventos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0B164-DBA3-481D-AA12-0A75199C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20" y="2476500"/>
            <a:ext cx="372083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E39FB-2695-4B0B-9025-EFBE9CC9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470" y="2552700"/>
            <a:ext cx="3530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Crear/unirse/conflictos/404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997BF2-BFE9-4933-B613-B23837A3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2188723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612EC-E236-46E0-97B8-C1C3FAD4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998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IT-05..08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F8846-211C-42CE-B0EA-BA2FB6EF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773" y="3219450"/>
            <a:ext cx="4377447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00CCC-5E1C-41BA-A1F5-84B2FC6C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023" y="3295650"/>
            <a:ext cx="41869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RecyclingApplicationService + storage fake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D3D3FD-21D0-4593-ACEA-C20001C3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20" y="3219450"/>
            <a:ext cx="372083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211B17-1491-4942-A4E4-60ACB36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470" y="3295650"/>
            <a:ext cx="3530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Solicitud, timeout, canje, errores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B1031C-29CF-4B1A-8A6E-EEBFE8E8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2188723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C955AF-75E4-4909-AEB3-88667B38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998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IT-09..17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0FE11-21D2-4B9E-BF08-595D066E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773" y="3962400"/>
            <a:ext cx="4377447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A538EA-4A85-4BA3-BB0F-7D44F844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023" y="4038600"/>
            <a:ext cx="41869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Validaciones y ranking ampliado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E9F8C7-F0E6-40DB-816A-6D3B8AB5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20" y="3962400"/>
            <a:ext cx="372083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02912C-2B83-4D51-885B-15465DAC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470" y="4038600"/>
            <a:ext cx="3530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Ramas negativas y efectos laterales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8AA51A-A09C-4816-8640-297EDBB9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188723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C45F8F-B911-492F-A255-E5C11774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1998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Pauta final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AC3B4D-7451-4D57-8046-72B79633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773" y="4705350"/>
            <a:ext cx="4377447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CB399F-8345-4278-AB52-0260FAD9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5023" y="4781550"/>
            <a:ext cx="418694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Todos los CU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186393-07D0-42FA-B880-55C6FD6A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20" y="4705350"/>
            <a:ext cx="372083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B21E31-0D02-4C5A-83E1-36D8E0B3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470" y="4781550"/>
            <a:ext cx="3530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Falta mapear RF01-RF09/RF18-RF20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8386DA-5BD3-4275-B82E-997CD127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387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Modelo usado: no UI/E2E; integra servicios con dobles in-memory para ejecutar rapido y sin red.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6D95A5-86E0-4743-B15C-4B2A0176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71FC9C-8342-4DA2-8203-3E0240D3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3242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3D11DC-2F5B-4835-801D-400648F0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ESTADO Y ESTRATEGIA FINAL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9BDBB-E10B-4F3B-BD96-DD2A2BFB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Pruebas E2E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CF3C6-10AD-460A-B78E-C9962F4A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1195BC-EF13-4C92-9365-03E8EE3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Evidencia actual en repo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8E87B-B2A9-429F-A9A8-F9EABEF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764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36"/>
                </a:solidFill>
              </a:defRPr>
            </a:pPr>
            <a:r>
              <a:rPr sz="1425" b="1">
                <a:solidFill>
                  <a:srgbClr val="C70036"/>
                </a:solidFill>
              </a:rPr>
              <a:t>Falta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C6673-2411-4115-9C70-3E68A285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764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No hay Playwright/Appium/Selenium versionado para todos los CU.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E7E77-C2B9-47CF-A74D-B834DB0B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B1701-C9DB-44A8-A4C8-B36D792C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Herramienta recomendada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3FDB3-46E2-4D8A-98D7-01DD09B3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431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4900"/>
                </a:solidFill>
              </a:defRPr>
            </a:pPr>
            <a:r>
              <a:rPr sz="1425" b="1">
                <a:solidFill>
                  <a:srgbClr val="F54900"/>
                </a:solidFill>
              </a:rPr>
              <a:t>Parcial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98D3B-55A8-4B05-8DCD-D9CFF792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431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Appium o Maestro para app Android; Playwright solo si hay web/admin/API.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F1707-2673-48D1-9922-D04E0FA4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3CEEE-1A48-4D80-840F-3E47DC50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Matriz requerida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8476C-DD11-4237-BF21-C7F8218E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99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36"/>
                </a:solidFill>
              </a:defRPr>
            </a:pPr>
            <a:r>
              <a:rPr sz="1425" b="1">
                <a:solidFill>
                  <a:srgbClr val="C70036"/>
                </a:solidFill>
              </a:rPr>
              <a:t>Falta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963C9-C105-4DC7-8150-E79C18EA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099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1 flujo principal por CU priorizado, con login, navegacion, accion y validacion.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C4DD8E-8C0E-43EC-B25C-F5FFBDC1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0A6CF7-9FCD-43C2-9845-B9505096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Relacion con BDD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A892C2-80EF-4C94-87B9-A0096CC2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4900"/>
                </a:solidFill>
              </a:defRPr>
            </a:pPr>
            <a:r>
              <a:rPr sz="1425" b="1">
                <a:solidFill>
                  <a:srgbClr val="F54900"/>
                </a:solidFill>
              </a:rPr>
              <a:t>Parcial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3859E3-A8A8-477F-A5A7-E0AF3C07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766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Reutilizar nombres de escenarios Gherkin y evidencias de Cucumber.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22D04F-F86A-47B0-8C37-A94A6E10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93FE9-07E6-4979-871D-7C17058B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4900"/>
                </a:solidFill>
              </a:defRPr>
            </a:pPr>
            <a:r>
              <a:rPr sz="1950" b="1">
                <a:solidFill>
                  <a:srgbClr val="F54900"/>
                </a:solidFill>
              </a:rPr>
              <a:t>Para defender 100% final: crear suite E2E por RF01-RF20, generar reporte y capturas.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4DC8E1-DB2F-4748-8E19-886DF1B9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D03019-8D55-4735-A21D-43616CB4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729408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0A405B-5651-4A62-873B-9E286A67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PAUTA FINAL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AF270-8FDB-46F7-876F-6EE5562A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Carga y Estres con Grafana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05195-4AE3-4932-8897-8735D9AD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67CE6-78A7-4448-9035-76B36551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34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51B24-AD31-4051-B5C7-95145D03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215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Elemento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42660-7E38-49A8-8851-E12E2D29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350" y="1695450"/>
            <a:ext cx="3054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48BFF-6E85-4D05-8B56-20497C37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1771650"/>
            <a:ext cx="286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Estado actual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08EF7-442C-4144-A2F4-E4F22EE6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1695450"/>
            <a:ext cx="5168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E13D8-7B72-4F42-ABCE-5D06A98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771650"/>
            <a:ext cx="497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Plan minimo defendible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28035-7C7A-4DC3-9AB4-22A6F7DD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234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8CFF9-CA6A-433F-A294-729E02D2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215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APIs relevantes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AF4006-9E42-4AA4-A841-6C89FD0B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350" y="2381250"/>
            <a:ext cx="3054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8352-FAFA-495D-9A0D-CD6EAEE7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2457450"/>
            <a:ext cx="286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No expuestas como backend propio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0C8F4-A602-4BB6-98BA-2FC488A4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381250"/>
            <a:ext cx="5168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0AC54-2C97-406D-A6CD-9DB32ADD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2457450"/>
            <a:ext cx="497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Definir endpoints/operaciones Firebase o backend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91AEA8-A011-4F15-A2EF-C9F48F0D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234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573AD-C067-45C9-8F88-6E93E30C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215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Herramienta carga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2436CD-9159-443C-9594-AD21F523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350" y="3067050"/>
            <a:ext cx="3054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6726DA-0FBB-4CA0-B335-DD4899CE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143250"/>
            <a:ext cx="286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9A485C-18A4-4082-B5DF-380B5BC0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3067050"/>
            <a:ext cx="5168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F78988-2F37-4344-A31C-67D0D45E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3143250"/>
            <a:ext cx="497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k6 con escenarios login/grupos/reciclaje/recompensas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58CC0-F5B3-4ABA-A794-2D4DD6E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4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D628E-D5EC-4AC0-95B9-60C69451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15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Grafana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FAA94F-87A4-4424-9108-711976DC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350" y="3752850"/>
            <a:ext cx="3054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DECC4-1BF3-4A49-BDD0-97D649B5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829050"/>
            <a:ext cx="286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7DC276-8017-4792-8A3F-8155D24F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3752850"/>
            <a:ext cx="5168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7448AC-24DB-4105-9579-0396734E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3829050"/>
            <a:ext cx="497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k6 + Prometheus/InfluxDB + dashboard Grafana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0D1ED1-CD9C-4156-89F3-123529E7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2349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313D1-C55A-4AC6-8D63-FEDA0C67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215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Metricas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DA3898-88E6-4367-BD86-E3613984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350" y="4438650"/>
            <a:ext cx="3054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F768E0-CC24-440C-B2DB-0A2B156C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4514850"/>
            <a:ext cx="286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Pendiente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1BDBED-7BCD-4FCB-8850-9E629B76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4438650"/>
            <a:ext cx="5168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008B90-078D-40EC-8C80-FF154743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4514850"/>
            <a:ext cx="497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p95/p99, throughput, error rate, CPU/mem si aplica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990F66-1415-4772-9654-A4BA1E90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4900"/>
                </a:solidFill>
              </a:defRPr>
            </a:pPr>
            <a:r>
              <a:rPr sz="1800" b="1">
                <a:solidFill>
                  <a:srgbClr val="F54900"/>
                </a:solidFill>
              </a:rPr>
              <a:t>La evidencia de rendimiento existente es de app/arranque/APK, no de carga de APIs.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7CBA6C-FACD-44E4-9AD4-D6030623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18C8A1-1446-45C8-B21E-14F83937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899353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61E2B3-338A-496E-85AE-C9390E8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MANTENIBILIDAD, FIABILIDAD, SEGURIDAD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AE21D-3D18-4C69-9F5B-42BAF7B6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SonarQube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E6D53-1EE6-4CC9-84D7-D40F55F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FBEBA-74C7-4512-821E-19DBD14C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716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FE301-8933-49E0-A8D8-E6E8A37B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CB560-9196-46A1-893F-D204E5EC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Quality 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F4CAAA-EFFA-4027-8E09-FDCAA060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71650"/>
            <a:ext cx="1714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7BE74-D7F4-4D21-91A0-EBB67CBA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43100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F1F5A-057F-4013-868D-D8922C80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Bugs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84C05-E260-4495-8289-9952F79B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716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E6068-6B51-4CD9-A354-8D9799AD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431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CD492-8D25-4F6C-A67D-10D4CFEA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527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Vulnerabilities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62C1C-BF3A-4223-9BA7-D3AA9FB1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1905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F80E4-0668-4858-90F5-36AB788D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43100"/>
            <a:ext cx="1562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4900"/>
                </a:solidFill>
              </a:defRPr>
            </a:pPr>
            <a:r>
              <a:rPr sz="3300" b="1">
                <a:solidFill>
                  <a:srgbClr val="F54900"/>
                </a:solidFill>
              </a:rPr>
              <a:t>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8A621-2919-4654-9CC7-9223527F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527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Code Smells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950F8-F5B9-449E-9168-4BA4581F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716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A29F2-7201-4B87-874C-9E8FC5AD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43100"/>
            <a:ext cx="1276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0.0%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399310-38B2-4C38-847B-80879DF5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527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Duplications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A39EC-B06E-419C-AD90-0CB6F81D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009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Ratings historicos: Maintainability A, Security A, Reliability A.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Dos smells resueltos: literal duplicado y bloque vacio.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Pendiente: reejecutar Sonar con Docker Desktop activo para importar JaCoCo actual.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Deuda principal: complejidad cognitiva y funciones con demasiados parametros.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AAADA-5862-45B8-90C9-3D73C01B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7B3663-EB00-4D10-BF8C-07B79318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073699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47B116-9AB6-43BA-8B5C-47ED4143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OPTIMIZACIONES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1A39A-06E3-4D66-88D6-C2C76EBE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Rendimiento Mobile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24526-3A3C-42B6-90A7-4B9F8D10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9BF3C-AACD-48CE-803D-3CC68F28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81F30-2D0D-43C8-B074-F3D437A8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812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-75.77%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2F062-E049-4441-84E1-1191CC6E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APK release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09185-2DC1-4FBA-B567-5F631FD0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097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7E95D-C7F7-41B8-B8EA-C779403C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-31.34%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E5E82-EF61-4FA0-B8CE-92F707EF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9080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startup mediana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A303C-6030-4952-A537-769D51D9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2190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69E933-18C4-48B6-9D53-E1F6DAB2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81200"/>
            <a:ext cx="1847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3.256s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295A3-42D1-4E2F-860B-0E6C77F9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9080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cold startup p50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5A097-1122-44BE-BABD-6DD7E60C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809750"/>
            <a:ext cx="2190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AC894-F24C-41B4-B16D-222CBF76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81200"/>
            <a:ext cx="1847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7A55"/>
                </a:solidFill>
              </a:defRPr>
            </a:pPr>
            <a:r>
              <a:rPr sz="3300" b="1">
                <a:solidFill>
                  <a:srgbClr val="007A55"/>
                </a:solidFill>
              </a:rPr>
              <a:t>16.77ms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796F2-D5A8-47F7-B49F-522D86C6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9080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frame CPU p99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C301C-CE05-4EEC-8970-4CAAEF63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Macrobenchmark se movio fuera del APK productivo.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Baseline Profile + ProfileInstaller agregados.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QR usa executor dedicado, backpressure y throttle.</a:t>
            </a:r>
          </a:p>
          <a:p xmlns:a="http://schemas.openxmlformats.org/drawingml/2006/main">
            <a:pPr algn="l">
              <a:defRPr sz="1650" b="0">
                <a:solidFill>
                  <a:srgbClr val="020618"/>
                </a:solidFill>
              </a:defRPr>
            </a:pPr>
            <a:r>
              <a:rPr sz="1650" b="0">
                <a:solidFill>
                  <a:srgbClr val="020618"/>
                </a:solidFill>
              </a:rPr>
              <a:t>• Map/History/Rewards cachean y reducen recomposiciones/cargas repetidas.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9E625C-099D-4AEA-A94D-802311AB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E2CE6-F4AE-4061-B4CA-DB686521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747489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800A40-3D8D-4B51-8BF0-B727072F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02873-0D38-4846-B846-048C5888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Brechas Para Cumplir la Pauta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4C686-CE4F-4EBE-9FC0-0B54C45B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D4280-4CE9-4734-ABD2-3605F896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70754-2B12-4A57-9AAB-CC50EB34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Prioridad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A5BD4-B637-40DE-8565-0E7CBBDD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167640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1CFAD-A169-4D34-97E8-A8F5DA8E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175260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Trabajo faltante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8D1AA-8485-44E7-A17B-E3A9E75F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167640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74A342-DB72-4B7D-B8E1-457D1A8F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175260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Evidencia esperada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28D9D-3AAA-4187-86CC-9419294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036C0E-369A-416E-9345-1C53D945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Alta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A3FA1-ED68-457C-8F64-E06FC422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226695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1C21EB-4B2B-4710-8479-FE20E01F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234315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Completar 100% CU/RF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0FF991-0CB7-413D-A5E4-424766C2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226695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78540-B172-4E63-BB7C-5C4DA146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234315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Matriz RF01-RF20 implementada y demo funcional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F5CBF-A1E9-4915-A3A5-4DD11498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D79E7E-7D55-42F2-A77B-33FD371F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3370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Alta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CDABB-2A5C-48D9-A6BC-0F9FFEBF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285750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5A57FC-3CD4-4E91-B3FF-7268E518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293370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E2E para cada CU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D6766-9564-4B01-A26A-250F88D0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285750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906E11-414F-49D8-8E5B-AF0875F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293370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Suite Appium/Maestro + reporte + capturas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EEA27-5154-4C4A-9CD9-BD78E14F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536455-0CA6-4E5E-8D6F-CD61FC8A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Alta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75495-E3C6-4FA9-9891-7B740461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344805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6AC741-F7C4-4EAE-9262-4855F3A8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352425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Carga/estres con Grafana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2038B-5B19-4676-A036-8063CDF8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344805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64EFA6-319C-47B0-9A24-079E6F0C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352425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k6 + dashboard + p95/p99/throughput/error 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541425-68C9-45C9-9BD6-3B588661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C30C6D-8356-46ED-B12E-FEE3E4D4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Alta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BF7337-0683-4658-A2A0-C26B304D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403860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E060B4-B93C-442F-88D2-283CAB8B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411480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Sonar actualizado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BE0CC7-C307-48F1-BECF-0F84D1B9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403860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9DDA43-F7C8-40DB-92C3-DCFCE5A8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411480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Dashboard con JaCoCo importado y quality gate final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1D32C6-812E-48DE-8274-AA9FB2AE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7261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1DD9F0-6730-44D3-AB84-866B45C3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05350"/>
            <a:ext cx="15356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Media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042108-51DB-4F82-BAEB-CEF67FF7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3" y="4629150"/>
            <a:ext cx="4099638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50FFBA-4785-44F0-8995-071DD06B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5313" y="4705350"/>
            <a:ext cx="390913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Refactor deuda Sonar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B7D123-2F20-40C5-86B2-AA30E21A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01" y="4629150"/>
            <a:ext cx="4746949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7927BB-AA26-492B-8A61-75D93A00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951" y="4705350"/>
            <a:ext cx="4556449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Complejidad y parametros reducidos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C86608-1BF3-4BDE-96BB-C13BAE8A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20618"/>
                </a:solidFill>
              </a:defRPr>
            </a:pPr>
            <a:r>
              <a:rPr sz="1875" b="1">
                <a:solidFill>
                  <a:srgbClr val="020618"/>
                </a:solidFill>
              </a:rPr>
              <a:t>Orden recomendado: cerrar CU → E2E → carga/Grafana → Sonar final → ZIP/video.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398759-BF33-4704-8F68-548E7060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2D6EDC-5B2A-49FA-84F6-131F0E3D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65450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6DEED3-45FE-460A-B2FC-442011F9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MADUREZ DEL PROYECTO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4732B-3F93-42CE-A4FD-4E57BFFA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Conclusiones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32B19-60B6-411D-B0DE-8C96FFF7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3949B-B5E1-4E87-A0EB-8223822B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9810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20618"/>
                </a:solidFill>
              </a:defRPr>
            </a:pPr>
            <a:r>
              <a:rPr sz="1875" b="0">
                <a:solidFill>
                  <a:srgbClr val="020618"/>
                </a:solidFill>
              </a:rPr>
              <a:t>• La arquitectura por capas facilita TDD, BDD e integracion sin depender de Firebase real.</a:t>
            </a:r>
          </a:p>
          <a:p xmlns:a="http://schemas.openxmlformats.org/drawingml/2006/main">
            <a:pPr algn="l">
              <a:defRPr sz="1875" b="0">
                <a:solidFill>
                  <a:srgbClr val="020618"/>
                </a:solidFill>
              </a:defRPr>
            </a:pPr>
            <a:r>
              <a:rPr sz="1875" b="0">
                <a:solidFill>
                  <a:srgbClr val="020618"/>
                </a:solidFill>
              </a:rPr>
              <a:t>• La cobertura local sobre el bloque implementado supera 70% en lineas y ramas.</a:t>
            </a:r>
          </a:p>
          <a:p xmlns:a="http://schemas.openxmlformats.org/drawingml/2006/main">
            <a:pPr algn="l">
              <a:defRPr sz="1875" b="0">
                <a:solidFill>
                  <a:srgbClr val="020618"/>
                </a:solidFill>
              </a:defRPr>
            </a:pPr>
            <a:r>
              <a:rPr sz="1875" b="0">
                <a:solidFill>
                  <a:srgbClr val="020618"/>
                </a:solidFill>
              </a:rPr>
              <a:t>• Sonar muestra buena fiabilidad/seguridad historica, con deuda de mantenibilidad acotada.</a:t>
            </a:r>
          </a:p>
          <a:p xmlns:a="http://schemas.openxmlformats.org/drawingml/2006/main">
            <a:pPr algn="l">
              <a:defRPr sz="1875" b="0">
                <a:solidFill>
                  <a:srgbClr val="020618"/>
                </a:solidFill>
              </a:defRPr>
            </a:pPr>
            <a:r>
              <a:rPr sz="1875" b="0">
                <a:solidFill>
                  <a:srgbClr val="020618"/>
                </a:solidFill>
              </a:rPr>
              <a:t>• Rendimiento mobile mejoro de forma medible en peso de APK y arranque.</a:t>
            </a:r>
          </a:p>
          <a:p xmlns:a="http://schemas.openxmlformats.org/drawingml/2006/main">
            <a:pPr algn="l">
              <a:defRPr sz="1875" b="0">
                <a:solidFill>
                  <a:srgbClr val="020618"/>
                </a:solidFill>
              </a:defRPr>
            </a:pPr>
            <a:r>
              <a:rPr sz="1875" b="0">
                <a:solidFill>
                  <a:srgbClr val="020618"/>
                </a:solidFill>
              </a:rPr>
              <a:t>• Para la defensa final, aun faltan evidencias objetivas de 100% CU, E2E y carga/Grafana.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C8650-61F6-4FFE-8A24-E0844AD7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981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28612-50B4-4C75-B2F9-C0154CD2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29200"/>
            <a:ext cx="923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4900"/>
                </a:solidFill>
              </a:defRPr>
            </a:pPr>
            <a:r>
              <a:rPr sz="1800" b="1">
                <a:solidFill>
                  <a:srgbClr val="F54900"/>
                </a:solidFill>
              </a:rPr>
              <a:t>Mensaje de cierre: la base tecnica es buena; el riesgo es evidenciar menos de lo que exige la pauta final.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70FE4-5117-4535-9AB5-917DBA6C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1A38E-B881-46A0-854D-554E92D6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07862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8DDBC6-2B60-431C-A1E3-DBC57B65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556C"/>
                </a:solidFill>
              </a:defRPr>
            </a:pPr>
            <a:r>
              <a:rPr sz="1200" b="1">
                <a:solidFill>
                  <a:srgbClr val="45556C"/>
                </a:solidFill>
              </a:rPr>
              <a:t>RUTAS DEL REPOSITORIO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DAE77-8D56-44DA-B2D3-A527D0C7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20618"/>
                </a:solidFill>
              </a:defRPr>
            </a:pPr>
            <a:r>
              <a:rPr sz="3150" b="1">
                <a:solidFill>
                  <a:srgbClr val="020618"/>
                </a:solidFill>
              </a:rPr>
              <a:t>Referencias y Evidencias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AC0CC-4345-4B51-8A06-6C3C349E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C05FF-6BEA-4072-A37C-617E31B4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74DD3-FC81-428E-9204-E03E98B8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Tipo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61A82-1759-431D-9822-D7F0430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167640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9266E-47BB-4827-80A9-2973C629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175260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Ruta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5ADAD0-D913-403C-962D-DB85BF4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14FFB-B9DD-434B-B7D5-6294C9CD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Informe Avance 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9AE3D-54FE-4582-BFEE-7FBA638F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215265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A26A3-A821-4974-AA82-6225098B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222885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docs/informe-avance-02-ecosense.pdf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D8BE0-1767-4AC5-9E9A-DD5B6DDE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24DD64-826C-4B4E-B5A0-1B278241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Logs y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6124FE-842F-4B72-AA6E-E5489040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262890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1D90E4-1B34-4BA7-8716-85176E2F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270510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docs/evidencias-avance-02/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06490-19A5-4CDE-815F-91688295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8129E1-F1E1-4107-B05C-3F8A1A97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BDD + glue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6D90-9C2E-4ED4-8B60-692C17FD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310515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666AC-3ED7-42DF-B992-7194F21F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318135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app/src/test/resources/features · app/src/test/kotlin/steps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DF939C-4EA5-4D9C-8FD4-176B7F55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6C0364-A46D-45EC-9335-74F4084A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Integracion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F7277B-7CAA-437F-9A9B-064A3CDC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358140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811860-0EF8-4D31-A6C6-89B205B7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365760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app/src/test/kotlin/com/ecosense/integration/EcoSenseIntegrationSpec.kt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58837B-5DEF-47AD-B692-71364F8C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A999D0-A7D8-4AF8-BB2F-C6B6CD9B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Sonar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C51823-7930-4FD5-BA04-230B8EFE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405765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7642BB-92AF-4D5A-B6C6-7B0B9FD9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413385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docs/informe-sonarqube-ecosense.md · docs/sonarqube-*.json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4FB910-24EA-4FC8-9707-076317B3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B6A23A-4773-4872-BFAF-1A216CFF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1010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Arquitectura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A27636-184E-4AF6-B553-93E42CBC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453390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D86BD8-619A-4D01-BADE-13E821A8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461010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docs/diagramas-c4/*.puml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C826F9-543C-4761-A8DF-A8815824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2758109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41C3A4-7D4A-49A0-AB87-97AFAC8C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567609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Performance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F29A05-5D0F-460A-9D52-188DDDFA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09" y="5010150"/>
            <a:ext cx="7814641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21EC1E-0F67-4917-8BE7-1857480A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259" y="5086350"/>
            <a:ext cx="7624141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docs/informe-rendimiento-ecosense.md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C45C18-7162-4478-A29A-DF93DA90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5556C"/>
                </a:solidFill>
              </a:defRPr>
            </a:pPr>
            <a:r>
              <a:rPr sz="1425" b="0">
                <a:solidFill>
                  <a:srgbClr val="45556C"/>
                </a:solidFill>
              </a:rPr>
              <a:t>Repositorio/rama: codex/performance-optimizations · commit de cierre Avance 02: ce7439c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CB5ABE-238E-4D96-8D50-D8116583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EcoSense · Presentación final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00D13B-1DB0-4EBD-81DC-78CBD539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198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5556C"/>
                </a:solidFill>
              </a:defRPr>
            </a:pPr>
            <a:r>
              <a:rPr sz="1050" b="0">
                <a:solidFill>
                  <a:srgbClr val="45556C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248261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2026-06-24T08:03:59.1200000Z</dcterms:created>
  <dcterms:modified xsi:type="dcterms:W3CDTF">2026-06-24T08:03:59.1200000Z</dcterms:modified>
</coreProperties>
</file>