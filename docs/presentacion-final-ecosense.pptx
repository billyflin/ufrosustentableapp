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6a56d232644fdb" /><Relationship Type="http://schemas.openxmlformats.org/officeDocument/2006/relationships/extended-properties" Target="/docProps/app.xml" Id="R4c189ede593d4613" /><Relationship Type="http://schemas.openxmlformats.org/officeDocument/2006/relationships/officeDocument" Target="/ppt/presentation.xml" Id="R20ad3fa34a1c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dea853a314b87"/>
  </p:sldMasterIdLst>
  <p:notesMasterIdLst>
    <p:notesMasterId xmlns:r="http://schemas.openxmlformats.org/officeDocument/2006/relationships" r:id="R8b99758040454c68"/>
  </p:notesMasterIdLst>
  <p:sldIdLst>
    <p:sldId xmlns:r="http://schemas.openxmlformats.org/officeDocument/2006/relationships" id="256" r:id="Rfbd8fe2923ea40d9"/>
    <p:sldId xmlns:r="http://schemas.openxmlformats.org/officeDocument/2006/relationships" id="257" r:id="Rad1ed197d5494be6"/>
    <p:sldId xmlns:r="http://schemas.openxmlformats.org/officeDocument/2006/relationships" id="258" r:id="R83ce174627ec4713"/>
    <p:sldId xmlns:r="http://schemas.openxmlformats.org/officeDocument/2006/relationships" id="259" r:id="Rc2e80a535494464a"/>
    <p:sldId xmlns:r="http://schemas.openxmlformats.org/officeDocument/2006/relationships" id="260" r:id="R7f7c985a0f334164"/>
    <p:sldId xmlns:r="http://schemas.openxmlformats.org/officeDocument/2006/relationships" id="261" r:id="R3f63fc99bfe24d1b"/>
    <p:sldId xmlns:r="http://schemas.openxmlformats.org/officeDocument/2006/relationships" id="262" r:id="R75613d8abff344c0"/>
    <p:sldId xmlns:r="http://schemas.openxmlformats.org/officeDocument/2006/relationships" id="263" r:id="R64eff4722a194e91"/>
    <p:sldId xmlns:r="http://schemas.openxmlformats.org/officeDocument/2006/relationships" id="264" r:id="R6f9da5584de54bb4"/>
    <p:sldId xmlns:r="http://schemas.openxmlformats.org/officeDocument/2006/relationships" id="265" r:id="R2e2b03f297404965"/>
    <p:sldId xmlns:r="http://schemas.openxmlformats.org/officeDocument/2006/relationships" id="266" r:id="Rc84028e86a644a51"/>
    <p:sldId xmlns:r="http://schemas.openxmlformats.org/officeDocument/2006/relationships" id="267" r:id="R7c838393cf23461e"/>
    <p:sldId xmlns:r="http://schemas.openxmlformats.org/officeDocument/2006/relationships" id="268" r:id="R6d7a05cb5f334b9f"/>
    <p:sldId xmlns:r="http://schemas.openxmlformats.org/officeDocument/2006/relationships" id="269" r:id="Rc9a90ca1fa91454d"/>
    <p:sldId xmlns:r="http://schemas.openxmlformats.org/officeDocument/2006/relationships" id="270" r:id="R38fa9dfece2f4bdf"/>
    <p:sldId xmlns:r="http://schemas.openxmlformats.org/officeDocument/2006/relationships" id="271" r:id="Rdb2fefe17fdb4fd8"/>
    <p:sldId xmlns:r="http://schemas.openxmlformats.org/officeDocument/2006/relationships" id="272" r:id="R62cba6873c5f4ba4"/>
    <p:sldId xmlns:r="http://schemas.openxmlformats.org/officeDocument/2006/relationships" id="273" r:id="R12c771015ef74a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e7227877444e9a" /><Relationship Type="http://schemas.openxmlformats.org/officeDocument/2006/relationships/slideMaster" Target="/ppt/slideMasters/slideMaster1.xml" Id="Rd1fdea853a314b87" /><Relationship Type="http://schemas.openxmlformats.org/officeDocument/2006/relationships/notesMaster" Target="/ppt/notesMasters/notesMaster1.xml" Id="R8b99758040454c68" /><Relationship Type="http://schemas.openxmlformats.org/officeDocument/2006/relationships/presProps" Target="/ppt/presProps.xml" Id="R84bd9e6ffb0c4838" /><Relationship Type="http://schemas.openxmlformats.org/officeDocument/2006/relationships/tableStyles" Target="/ppt/tableStyles.xml" Id="Rd4635d2be18a4d17" /><Relationship Type="http://schemas.openxmlformats.org/officeDocument/2006/relationships/slide" Target="/ppt/slides/slide1.xml" Id="Rfbd8fe2923ea40d9" /><Relationship Type="http://schemas.openxmlformats.org/officeDocument/2006/relationships/slide" Target="/ppt/slides/slide2.xml" Id="Rad1ed197d5494be6" /><Relationship Type="http://schemas.openxmlformats.org/officeDocument/2006/relationships/slide" Target="/ppt/slides/slide3.xml" Id="R83ce174627ec4713" /><Relationship Type="http://schemas.openxmlformats.org/officeDocument/2006/relationships/slide" Target="/ppt/slides/slide4.xml" Id="Rc2e80a535494464a" /><Relationship Type="http://schemas.openxmlformats.org/officeDocument/2006/relationships/slide" Target="/ppt/slides/slide5.xml" Id="R7f7c985a0f334164" /><Relationship Type="http://schemas.openxmlformats.org/officeDocument/2006/relationships/slide" Target="/ppt/slides/slide6.xml" Id="R3f63fc99bfe24d1b" /><Relationship Type="http://schemas.openxmlformats.org/officeDocument/2006/relationships/slide" Target="/ppt/slides/slide7.xml" Id="R75613d8abff344c0" /><Relationship Type="http://schemas.openxmlformats.org/officeDocument/2006/relationships/slide" Target="/ppt/slides/slide8.xml" Id="R64eff4722a194e91" /><Relationship Type="http://schemas.openxmlformats.org/officeDocument/2006/relationships/slide" Target="/ppt/slides/slide9.xml" Id="R6f9da5584de54bb4" /><Relationship Type="http://schemas.openxmlformats.org/officeDocument/2006/relationships/slide" Target="/ppt/slides/slide10.xml" Id="R2e2b03f297404965" /><Relationship Type="http://schemas.openxmlformats.org/officeDocument/2006/relationships/slide" Target="/ppt/slides/slide11.xml" Id="Rc84028e86a644a51" /><Relationship Type="http://schemas.openxmlformats.org/officeDocument/2006/relationships/slide" Target="/ppt/slides/slide12.xml" Id="R7c838393cf23461e" /><Relationship Type="http://schemas.openxmlformats.org/officeDocument/2006/relationships/slide" Target="/ppt/slides/slide13.xml" Id="R6d7a05cb5f334b9f" /><Relationship Type="http://schemas.openxmlformats.org/officeDocument/2006/relationships/slide" Target="/ppt/slides/slide14.xml" Id="Rc9a90ca1fa91454d" /><Relationship Type="http://schemas.openxmlformats.org/officeDocument/2006/relationships/slide" Target="/ppt/slides/slide15.xml" Id="R38fa9dfece2f4bdf" /><Relationship Type="http://schemas.openxmlformats.org/officeDocument/2006/relationships/slide" Target="/ppt/slides/slide16.xml" Id="Rdb2fefe17fdb4fd8" /><Relationship Type="http://schemas.openxmlformats.org/officeDocument/2006/relationships/slide" Target="/ppt/slides/slide17.xml" Id="R62cba6873c5f4ba4" /><Relationship Type="http://schemas.openxmlformats.org/officeDocument/2006/relationships/slide" Target="/ppt/slides/slide18.xml" Id="R12c771015ef7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6fdd0817cf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3a2250300e49af" /><Relationship Type="http://schemas.openxmlformats.org/officeDocument/2006/relationships/notesMaster" Target="/ppt/notesMasters/notesMaster1.xml" Id="R93f5926da9254d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ebd633274f43a8" /><Relationship Type="http://schemas.openxmlformats.org/officeDocument/2006/relationships/notesMaster" Target="/ppt/notesMasters/notesMaster1.xml" Id="R2c9d224107db47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eb3ee8235b4e05" /><Relationship Type="http://schemas.openxmlformats.org/officeDocument/2006/relationships/notesMaster" Target="/ppt/notesMasters/notesMaster1.xml" Id="R50def5a834fe41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2c869b252345c7" /><Relationship Type="http://schemas.openxmlformats.org/officeDocument/2006/relationships/notesMaster" Target="/ppt/notesMasters/notesMaster1.xml" Id="R83c9748c4f10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100ec639b943d9" /><Relationship Type="http://schemas.openxmlformats.org/officeDocument/2006/relationships/notesMaster" Target="/ppt/notesMasters/notesMaster1.xml" Id="Rabc3b9f380dc47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916146ae5d4d93" /><Relationship Type="http://schemas.openxmlformats.org/officeDocument/2006/relationships/notesMaster" Target="/ppt/notesMasters/notesMaster1.xml" Id="R0a1bfdcd396e48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034c2f86f44c94" /><Relationship Type="http://schemas.openxmlformats.org/officeDocument/2006/relationships/notesMaster" Target="/ppt/notesMasters/notesMaster1.xml" Id="R5681c7e6887545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ce38de343c46de" /><Relationship Type="http://schemas.openxmlformats.org/officeDocument/2006/relationships/notesMaster" Target="/ppt/notesMasters/notesMaster1.xml" Id="R3dededdecd2843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256b8c2c5946ae" /><Relationship Type="http://schemas.openxmlformats.org/officeDocument/2006/relationships/notesMaster" Target="/ppt/notesMasters/notesMaster1.xml" Id="R4ade6462e428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51bf422e6b438f" /><Relationship Type="http://schemas.openxmlformats.org/officeDocument/2006/relationships/notesMaster" Target="/ppt/notesMasters/notesMaster1.xml" Id="R0fc7064e67c341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e594395a914930" /><Relationship Type="http://schemas.openxmlformats.org/officeDocument/2006/relationships/notesMaster" Target="/ppt/notesMasters/notesMaster1.xml" Id="R31d29585129440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4fc67278ed4d49" /><Relationship Type="http://schemas.openxmlformats.org/officeDocument/2006/relationships/notesMaster" Target="/ppt/notesMasters/notesMaster1.xml" Id="R90886ab1c2484b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e5255ce51b4f22" /><Relationship Type="http://schemas.openxmlformats.org/officeDocument/2006/relationships/notesMaster" Target="/ppt/notesMasters/notesMaster1.xml" Id="R95d81201914f46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e43ab47cd24809" /><Relationship Type="http://schemas.openxmlformats.org/officeDocument/2006/relationships/notesMaster" Target="/ppt/notesMasters/notesMaster1.xml" Id="R57f3b78ff23742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1cf07a961545d4" /><Relationship Type="http://schemas.openxmlformats.org/officeDocument/2006/relationships/notesMaster" Target="/ppt/notesMasters/notesMaster1.xml" Id="R5e5afc7eef7446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82896d54dc4bd4" /><Relationship Type="http://schemas.openxmlformats.org/officeDocument/2006/relationships/notesMaster" Target="/ppt/notesMasters/notesMaster1.xml" Id="R7fe27d6af4314e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a4287be1db4387" /><Relationship Type="http://schemas.openxmlformats.org/officeDocument/2006/relationships/notesMaster" Target="/ppt/notesMasters/notesMaster1.xml" Id="R388f2ff28c0843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a74359d33b4409" /><Relationship Type="http://schemas.openxmlformats.org/officeDocument/2006/relationships/notesMaster" Target="/ppt/notesMasters/notesMaster1.xml" Id="R43065cbe486345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explicando que la presentacion defiende el alcance evaluado del ramo con evidencia versionada.</a:t>
            </a:r>
          </a:p>
          <a:p xmlns:a="http://schemas.openxmlformats.org/drawingml/2006/main">
            <a:r>
              <a:t>E2E y carga/Grafana se pueden mencionar como evolucion de robustez, no como falla del avance.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lamina para ordenar el relato: no es una disculpa, es una defensa del alcance probado.</a:t>
            </a:r>
          </a:p>
          <a:p xmlns:a="http://schemas.openxmlformats.org/drawingml/2006/main">
            <a:r>
              <a:t>Los numeros vienen de docs/evidencias-avance-02 y docs/informe-rendimiento-ecosense.md.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defensa se enfoca en los casos priorizados y evaluados con evidencia fuerte.</a:t>
            </a:r>
          </a:p>
          <a:p xmlns:a="http://schemas.openxmlformats.org/drawingml/2006/main">
            <a:r>
              <a:t>Evitar decir que el proyecto esta incompleto; decir que lo no cubierto pertenece al backlog o a robustez productiva.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lamina para demostrar avance funcional real, no promesas.</a:t>
            </a:r>
          </a:p>
          <a:p xmlns:a="http://schemas.openxmlformats.org/drawingml/2006/main">
            <a:r>
              <a:t>Cada fila tiene al menos una evidencia asociada en app/src/test.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las reglas centrales se aislaron en dominio para hacer TDD y pruebas JVM.</a:t>
            </a:r>
          </a:p>
          <a:p xmlns:a="http://schemas.openxmlformats.org/drawingml/2006/main">
            <a:r>
              <a:t>Firebase queda como infraestructura; las integraciones se validan con puertos in-memory.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la trazabilidad no es solo lista de pruebas; cada caso llega a un componente.</a:t>
            </a:r>
          </a:p>
          <a:p xmlns:a="http://schemas.openxmlformats.org/drawingml/2006/main">
            <a:r>
              <a:t>Las herramientas E2E/carga se presentan como siguiente nivel de madurez, no como falla del alcance.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lamina conecta la pauta con lo evidenciado por capas.</a:t>
            </a:r>
          </a:p>
          <a:p xmlns:a="http://schemas.openxmlformats.org/drawingml/2006/main">
            <a:r>
              <a:t>Decir que E2E/carga son extension de despliegue productivo si el docente lo pide.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RF17 como ejemplo corto de red-green-refactor.</a:t>
            </a:r>
          </a:p>
          <a:p xmlns:a="http://schemas.openxmlformats.org/drawingml/2006/main">
            <a:r>
              <a:t>BDD no es un documento suelto: se ejecuta con CucumberRunner.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Aclarar: 100% de escenarios definidos pasan; no significa 100% de todos los CU finales.</a:t>
            </a:r>
          </a:p>
          <a:p xmlns:a="http://schemas.openxmlformats.org/drawingml/2006/main">
            <a:r>
              <a:t>Este matiz evita una observacion del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que el umbral de 70% se cumple en lines y branches para el alcance testeable JVM.</a:t>
            </a:r>
          </a:p>
          <a:p xmlns:a="http://schemas.openxmlformats.org/drawingml/2006/main">
            <a:r>
              <a:t>Si preguntan global de todo repo, explicar que UI y Firebase requieren otra capa.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que esta integracion es valida: atraviesa componentes y controla infraestructura externa.</a:t>
            </a:r>
          </a:p>
          <a:p xmlns:a="http://schemas.openxmlformats.org/drawingml/2006/main">
            <a:r>
              <a:t>Si preguntan por el resto del backlog, explicarlo como ampliacion natural de la misma estrategia.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E2E como recomendacion de madurez para una app que ya tiene dominio probado.</a:t>
            </a:r>
          </a:p>
          <a:p xmlns:a="http://schemas.openxmlformats.org/drawingml/2006/main">
            <a:r>
              <a:t>No abrir con que falta; abrir con que el alcance actual se valida por capas inferiores.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rendimiento mobile de observabilidad backend.</a:t>
            </a:r>
          </a:p>
          <a:p xmlns:a="http://schemas.openxmlformats.org/drawingml/2006/main">
            <a:r>
              <a:t>Grafana se plantea como proyeccion productiva, no como requisito central del alcance del ramo.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Sonar historico esta bien, pero coverage Sonar salia 0.0 por importacion ausente.</a:t>
            </a:r>
          </a:p>
          <a:p xmlns:a="http://schemas.openxmlformats.org/drawingml/2006/main">
            <a:r>
              <a:t>El repo ya tiene sonar.coverage.jacoco.xmlReportPaths configurado.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lamina para mostrar calidad no funcional ya trabajada.</a:t>
            </a:r>
          </a:p>
          <a:p xmlns:a="http://schemas.openxmlformats.org/drawingml/2006/main">
            <a:r>
              <a:t>Recordar que no reemplaza pruebas de carga con Grafana.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lamina muestra evolucion, no una lista de incumplimientos.</a:t>
            </a:r>
          </a:p>
          <a:p xmlns:a="http://schemas.openxmlformats.org/drawingml/2006/main">
            <a:r>
              <a:t>Usarla para cerrar con ambicion sin debilitar la defensa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seguridad: el valor esta en evidencia reproducible y trazabilidad.</a:t>
            </a:r>
          </a:p>
          <a:p xmlns:a="http://schemas.openxmlformats.org/drawingml/2006/main">
            <a:r>
              <a:t>Si preguntan por E2E/Grafana, responder que son evolucion operativa del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lamina como respaldo si preguntan de donde sale cada dato.</a:t>
            </a:r>
          </a:p>
          <a:p xmlns:a="http://schemas.openxmlformats.org/drawingml/2006/main">
            <a:r>
              <a:t>Abrir PDF o logs si la exposicion incluye demo breve.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e43351d344e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74ee3ab25b4ea3" /><Relationship Type="http://schemas.openxmlformats.org/officeDocument/2006/relationships/slideLayout" Target="/ppt/slideLayouts/slideLayout1.xml" Id="R1ef0269a341440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f0269a341440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e46c35ede4f9f" /><Relationship Type="http://schemas.openxmlformats.org/officeDocument/2006/relationships/notesSlide" Target="/ppt/notesSlides/notesSlide1.xml" Id="R272dc6103055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77bbf76184be2" /><Relationship Type="http://schemas.openxmlformats.org/officeDocument/2006/relationships/notesSlide" Target="/ppt/notesSlides/notesSlide2.xml" Id="R2da57da27243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427dcde024179" /><Relationship Type="http://schemas.openxmlformats.org/officeDocument/2006/relationships/notesSlide" Target="/ppt/notesSlides/notesSlide3.xml" Id="R648b09d39d8446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13e9d4b37488d" /><Relationship Type="http://schemas.openxmlformats.org/officeDocument/2006/relationships/notesSlide" Target="/ppt/notesSlides/notesSlide4.xml" Id="Rb6c8d082aba44d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18123d72f4195" /><Relationship Type="http://schemas.openxmlformats.org/officeDocument/2006/relationships/notesSlide" Target="/ppt/notesSlides/notesSlide5.xml" Id="R9cb3583043ac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3343a770a4773" /><Relationship Type="http://schemas.openxmlformats.org/officeDocument/2006/relationships/notesSlide" Target="/ppt/notesSlides/notesSlide6.xml" Id="Rd1e7eb13ddd04d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a5db11f4e4a4e" /><Relationship Type="http://schemas.openxmlformats.org/officeDocument/2006/relationships/notesSlide" Target="/ppt/notesSlides/notesSlide7.xml" Id="R3d765569fd8e45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ce65dfbd54519" /><Relationship Type="http://schemas.openxmlformats.org/officeDocument/2006/relationships/notesSlide" Target="/ppt/notesSlides/notesSlide8.xml" Id="R9d69f3ff9b3341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69505289461b" /><Relationship Type="http://schemas.openxmlformats.org/officeDocument/2006/relationships/notesSlide" Target="/ppt/notesSlides/notesSlide9.xml" Id="R924dbb4a14e14b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b29f9599f4554" /><Relationship Type="http://schemas.openxmlformats.org/officeDocument/2006/relationships/notesSlide" Target="/ppt/notesSlides/notesSlide10.xml" Id="Rcffa96437b2543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f9aab7eed4b15" /><Relationship Type="http://schemas.openxmlformats.org/officeDocument/2006/relationships/notesSlide" Target="/ppt/notesSlides/notesSlide11.xml" Id="R2811c24098e544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6357f1f14b82" /><Relationship Type="http://schemas.openxmlformats.org/officeDocument/2006/relationships/notesSlide" Target="/ppt/notesSlides/notesSlide12.xml" Id="R8fea84e0dac347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f20a9211c4d92" /><Relationship Type="http://schemas.openxmlformats.org/officeDocument/2006/relationships/notesSlide" Target="/ppt/notesSlides/notesSlide13.xml" Id="Re90577f0efa448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e68c2a94c418c" /><Relationship Type="http://schemas.openxmlformats.org/officeDocument/2006/relationships/notesSlide" Target="/ppt/notesSlides/notesSlide14.xml" Id="Rc46f9cc8b77347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b594e910347ca" /><Relationship Type="http://schemas.openxmlformats.org/officeDocument/2006/relationships/notesSlide" Target="/ppt/notesSlides/notesSlide15.xml" Id="Rdc5eeb8f48b142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e150661ac4286" /><Relationship Type="http://schemas.openxmlformats.org/officeDocument/2006/relationships/notesSlide" Target="/ppt/notesSlides/notesSlide16.xml" Id="R1547eae27c9e45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6aaff74e24004" /><Relationship Type="http://schemas.openxmlformats.org/officeDocument/2006/relationships/notesSlide" Target="/ppt/notesSlides/notesSlide17.xml" Id="R71f833e9fd5748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b4eb16a014c08" /><Relationship Type="http://schemas.openxmlformats.org/officeDocument/2006/relationships/notesSlide" Target="/ppt/notesSlides/notesSlide18.xml" Id="Rabc5943c0e9c41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0946E2-7D80-4346-83BB-4E379D2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20618"/>
                </a:solidFill>
              </a:defRPr>
            </a:pPr>
            <a:r>
              <a:rPr sz="5400" b="1">
                <a:solidFill>
                  <a:srgbClr val="020618"/>
                </a:solidFill>
              </a:rPr>
              <a:t>EcoSense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E3F5F-A571-4252-AC1B-B8B7D708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5556C"/>
                </a:solidFill>
              </a:defRPr>
            </a:pPr>
            <a:r>
              <a:rPr sz="2250" b="0">
                <a:solidFill>
                  <a:srgbClr val="45556C"/>
                </a:solidFill>
              </a:rPr>
              <a:t>Presentación final de calidad y evidencias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7B249-ABCC-4118-9119-E84F3060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UFRO Sustentable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57BFC-8BDD-4742-8F20-EB427564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Equipo: Billy Martinez, Bastian Lagos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Curso: Pruebas de software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Fecha: 24/06/2026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6A63E-87EB-43AF-AE55-6400BF76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2D268-0932-4D9E-930D-F93FB08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525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2085D-E561-4B74-8C4B-1F8AB19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621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tests JVM pasan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ADAA3-2C19-4B4D-A253-2DA091A4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1811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7FE75-3070-4F0A-A976-1B83FDCC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52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89.23%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0662A-8F94-419F-ADB9-16F2D6E7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62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coverage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F9471-880C-4A3C-A77A-9D9F5E95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32DD8-037B-424C-BD70-E603F4CB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8 CU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9F660-FD50-45F6-80BF-15876D19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766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RF10-RF17 priorizados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304AA-37AD-4AB7-9DD9-ADBD2CE7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956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531F7-2B78-4808-B677-FF116A5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670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22935-1EDB-4D98-A662-1FC03864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766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alcance del ramo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18037-AF5E-4520-8C80-6E542FB6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99C19-0BDF-4C3A-94AC-B0AF9F08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4926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65F3C-548B-4C57-A301-6158D307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MENSAJE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BDA2F-4F03-465D-ABBF-03AD25BA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Resumen Ejecutivo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812A4-7480-4A88-BA9D-9A63AA91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12F71-617A-4A10-AAC3-A27D56E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66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• EcoSense promueve reciclaje universitario con puntos, grupos, ranking, historial, recompensas y mapa.</a:t>
            </a:r>
          </a:p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• La evidencia actual certifica el bloque RF10-RF17: grupos, ranking y recompensas.</a:t>
            </a:r>
          </a:p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• La suite JVM pasa completa: 83 tests, 0 failures, 0 errors.</a:t>
            </a:r>
          </a:p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• Cobertura local JaCoCo supera el umbral: 89.23% lines y 77.88% branches.</a:t>
            </a:r>
          </a:p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• E2E, carga/estres con Grafana y Sonar actualizado se presentan como extension productiva si el alcance del curso lo solicita.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77F22-2A60-42EC-946C-A2A6BD2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240D3-ADEC-48AC-994A-6F3D9AA7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8.02 MiB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00618-453C-43B8-B215-F55DFE9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APK release despues de optimizacion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0211F-2438-4680-922F-40A65C75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4AE35-C1D8-4CD3-96DB-08DC055B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3.842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5B055-DFDD-4519-8AFF-9597A80E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startup mediana ADB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2E4A1-3C0A-4A5D-B838-D730550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55"/>
                </a:solidFill>
              </a:defRPr>
            </a:pPr>
            <a:r>
              <a:rPr sz="1800" b="1">
                <a:solidFill>
                  <a:srgbClr val="007A55"/>
                </a:solidFill>
              </a:rPr>
              <a:t>Lectura de alcance: el trabajo evaluado queda respaldado por pruebas, BDD, integracion, Sonar y rendimiento.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DD367-95C1-4D34-A8E2-DF5253EF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F2DC2-6AEB-470D-A014-35590CE5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2503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C21F60-44E1-42B3-A4CD-AE9F452B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CASOS PRIORIZADOS DEL RAMO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86223-3732-490E-8FF4-79261898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Alcance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94BA5-46FD-44FA-BBC8-1E44E84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8F863-ED3A-4F01-A2F2-2EDCDA2B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F7A71-AC09-458A-9A19-85B3822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Bloque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FC4DA-3EC9-4835-92EB-8045D309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B27F7-05B4-4DF0-974B-59BF1F2D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52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Estado en esta defensa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C4C40-F331-48C9-A47A-907B4F1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7640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1CB4E-2417-42C7-BD71-BAF2B50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2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Evidencia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1F79C-C647-49E9-9C57-713CAFB9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BD942-0E16-463D-8BF7-16DC499D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RF10-RF17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6D2E1-AC60-4732-9391-71A96F61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5EADE-8EDF-4F0F-88B2-EA382B35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8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Implementado y probado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A7A74-20B1-47CC-8307-D6B038AB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6220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DD459-3A24-49FF-B65E-9B8948D9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38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Unitarias, BDD e integracion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AEF6F-199A-4356-A5BD-C3991A48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10B45-ABF5-431B-A77C-5F23E4FD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RF01-RF09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04B94-352F-48FD-85A7-A6C1450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55889-EA40-45C4-851C-E37015C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Contexto funcional del producto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68B31-0EAE-4D46-90C7-6DEF132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4800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F5268-8C9B-48DE-BE05-0428E13D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Fuera del foco TDD/BDD del avance evaluado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1008E-4C61-46CC-A549-12803E68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F13BB-9303-4777-ADE4-D1E502D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RF18-RF20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0242F-6280-4741-93E0-03F7C62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338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E16CC-4BC0-4B23-8453-8005C94E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0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Contexto funcional del producto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063DD-931A-46C6-BEF6-E33C982A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3380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4183A-45D1-42F5-92AB-4B4CC93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Se documenta como evolucion del backlog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A73DF-1003-415B-8BEC-147635A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2C865-5D5A-4A9A-8CB4-ED07DAC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Extension productiva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16ACF-FA05-46A7-AADB-88C2A5C5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96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A4F4B-C7AE-441F-959F-C28E90F9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95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E2E/carga/Grafana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53DB2-1840-4793-99A4-C21945F2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1960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C06CAA-F39F-4555-AAF8-FF9E5A7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95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Robustecimiento adicional si el alcance lo exige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EE8E13-342C-4AF8-9BF0-835613D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55"/>
                </a:solidFill>
              </a:defRPr>
            </a:pPr>
            <a:r>
              <a:rPr sz="1875" b="1">
                <a:solidFill>
                  <a:srgbClr val="007A55"/>
                </a:solidFill>
              </a:rPr>
              <a:t>Alcance defendido: RF10-RF17 con trazabilidad completa entre CU, pruebas, BDD e integracion.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BB9C61-94A8-472A-BD4E-E8557AE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1BC4E6-FE23-40C3-A944-61573A4D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9289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0FEDD-4459-41EE-8222-99E1BD2F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RF10-RF17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8A6EE-9AEA-4CAB-B2C8-7AEEE88F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Funcionalidades Implementadas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C23AF-DBBD-4E17-B3E1-8E31783D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47D77-34C6-4224-8F01-05D42C5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5AD20-ABBE-463D-A2A0-80AD9C1A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RF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F4EF4-6CF1-48B6-8ACE-A894632B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154305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41A67-65A9-4917-8023-04B3AEB3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161925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Funcionalidad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4A6F8-6D01-456D-83AC-E1D3AC1E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154305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8AD40-9529-45A8-98B7-15A34359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161925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Servicio / prueba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3F750-0756-4AAE-BAB9-C88D9E15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A989A-B869-49E6-9294-F55A8E3D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009AB-6E0B-4A45-A6B1-C8681F90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201930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C2686-5056-426D-B2B0-36CF5772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209550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Ranking global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EB8CC-7664-48A8-9907-BA06A1D7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201930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41168-5847-4DE2-ADBF-8647AB8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209550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RankingService · RF10RankingGlobalSpec · BDD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F4A7D-9894-4C8B-BC10-46017647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41446-FF3F-4A89-B8FA-3C0C22A0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31555-D07F-4C06-8294-BFBBCFD6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249555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782AB-72DA-4692-BEE5-8D88C134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257175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Crear grupo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CD9D2-BF7D-411B-8CD8-43CD0AC6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249555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6B251-BB9E-4448-B532-A3BBAFD0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257175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GrupoService + ApplicationService · IT-01/02/09/10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DA91F-8021-4CC9-A806-CB22ECEA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F207A-DCEA-4D9F-ACCB-0B3E2718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FA9BA-FE69-45E9-8461-C8D703BA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297180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DC8C5-5A02-4046-AD84-862A25A9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304800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Unirse a grupo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2BB02-24F5-4F5E-A585-E839C2D6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297180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2CEC6-DB64-4309-9F52-C33B5BA1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304800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GrupoService · unirse_grupo.feature · IT-03/04/11/12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62B02-9EE9-49A2-9F18-80A71056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F24DE-80F2-4E1A-8E83-79A6EFA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7A6CA-7A1C-4F95-A256-A0025B08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344805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D23E4-5E4E-40B6-B77D-B003379F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352425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Ranking interno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7B5D11-4A19-451C-BD98-E991698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344805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FD1D2-8722-46DC-9E58-75F928B3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352425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RankingService · RF13RankingGrupoSpec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1345B8-6B9C-40D6-8CCA-F8A1A794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53D1A-64A2-4C5B-9B40-937C2C02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BA70E-E558-47AA-AFED-5F3800CF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392430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A4E66-DAA8-430E-84D5-7ADDD8A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400050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Puntos grupales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DD0FDE-CF96-4A9F-9299-673B51C9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392430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A852E5-DC31-42C6-B70C-6BC94197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400050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GrupoApplicationService · IT-13/14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4E0D7A-C30A-49B4-81BE-A047DB2C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9E2397-4FF3-46C3-B860-4DBC8D6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AEDC12-4C40-4562-9320-8A9311F3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440055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43C504-2237-47F0-824C-17657909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447675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Recompensas grupales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E88C1F-1C49-4C29-A12E-023A015E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440055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2A6E4D-5EDE-4843-8579-AC7E7824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447675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GrupoService · RF15RecompensasGrupalesSpec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B3AA5-905D-4A1F-8216-4C88632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8B6720-8AA0-4C77-B814-0BD3480B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B1B44C-7342-40F1-B2FA-3663E55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487680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D2081E-2A38-4F48-BCB1-F1A71839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495300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Administrar miembros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63757C-E609-4A3D-AC1C-A148D27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487680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E5E088-29DF-45C9-A1E6-5B742EF1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495300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GrupoService · RF16AdminGrupoSpec · BDD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7345AA-2FB0-42D6-BE04-EE49E74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1228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97A935-C698-476B-BBAE-40353704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82178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17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3A531B-6DC5-4178-B697-E2E9F58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5" y="5353050"/>
            <a:ext cx="326180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CBA81C-7BC8-4E10-821F-944AB0C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5" y="5429250"/>
            <a:ext cx="30713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Ranking grupal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080145-E91E-4A0D-93A7-5DB3D51C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40" y="5353050"/>
            <a:ext cx="62986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130922-A2A9-4713-91EE-ED58E9B6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90" y="5429250"/>
            <a:ext cx="6108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RankingService · RF17RankingGrupalSpec · IT-15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C50387-83B3-4174-9EC0-CAEC6537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A1F393-BFF1-4886-82C5-624E1B2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2097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7A92C-B3B5-474B-BFE7-D967FCD6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CAPAS Y CONTENEDORES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DF82A-A716-4ED7-9086-058ABD07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Arquitectura Final Esperada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5B902-D4ED-4B7B-998E-B04D025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D9DA2-FCC1-4F18-90B9-FFE3B24B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UI Android</a:t>
            </a:r>
          </a:p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Jetpack Compose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9F171-19B5-43DE-9CD0-EB477E7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ViewModel / Repository</a:t>
            </a:r>
          </a:p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estado + Firebase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7E7A6-BDAE-4032-8F3A-B75BCCAD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Application Services</a:t>
            </a:r>
          </a:p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orquestacion CU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C6354-809D-42BA-A770-93843D7D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Dominio puro</a:t>
            </a:r>
          </a:p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Grupo /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905A6-3703-481F-8674-06C7559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Firebase</a:t>
            </a:r>
          </a:p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Auth · Firestore ·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7F52-3ED7-4845-8EF6-26F6C000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Puertos/Fakes</a:t>
            </a:r>
          </a:p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integracion reproducible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200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48E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429250" y="2200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48E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191500" y="2200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48E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429125" y="259080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48E"/>
            </a:solidFill>
            <a:prstDash val="dash"/>
          </a:ln>
        </p:spPr>
      </p:cxnSp>
      <p:cxnSp>
        <p:nvCxnSpPr>
          <p:cNvPr id="31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43750" y="259080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48E"/>
            </a:solidFill>
            <a:prstDash val="dash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BC4DC-5132-4169-9FB6-5F1372C3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Fuente: diagramas C4 versionados en docs/diagramas-c4 y servicios bajo app/src/main/kotlin.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B7D5A-29AF-45B1-8F51-549B10C7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D937B-CE00-408F-8191-35A2B2D3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1818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A2CD2D-229B-4494-A859-BD9F8188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610EF-7F23-4EDA-954A-8D1121CD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Mapeo CU a Componentes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1B817-A9B1-4131-A944-CECF5B1B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90814-2C41-4A2A-8FD6-212DE90D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099388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AA0E3-042B-4B4F-AF93-18D6401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9088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CU/RF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CC97C-D7B3-4839-A4EB-FB69707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38" y="1733550"/>
            <a:ext cx="356895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723B9-67A4-441B-A349-09B18873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88" y="1809750"/>
            <a:ext cx="337845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Componente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7949B-01FE-4F8B-B0EE-1DDBD173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97" y="1733550"/>
            <a:ext cx="461865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839E1-74CF-4A77-8824-5A36C326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647" y="1809750"/>
            <a:ext cx="44281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Tipo de evidencia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FF913-85F6-4D8D-9314-C97DE798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099388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0F473-DFC6-4D24-A9C7-5B140FA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088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RF10, RF13, RF17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6DD4D-AE49-4672-83F6-8CCB0C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38" y="2400300"/>
            <a:ext cx="356895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18168-87D4-42FD-8A83-C189740B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88" y="2476500"/>
            <a:ext cx="337845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RankingService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F5281-9AD9-486B-A7C9-35B6C4E0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97" y="2400300"/>
            <a:ext cx="461865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B16A5-D539-4CA9-B0C5-0BFBBD90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647" y="2476500"/>
            <a:ext cx="44281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Unitarias + BDD + integracion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1FD20-0AD0-43D6-B337-4316AEDF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99388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5BA3-2122-459B-96AB-6A3B732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9088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RF11, RF12, RF14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02668-6E2D-45B7-B521-5B0225DA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38" y="3067050"/>
            <a:ext cx="356895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36CAB-BB09-4941-81BE-E7E9D7BB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88" y="3143250"/>
            <a:ext cx="337845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GrupoApplicationService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C98D0-8818-4139-838A-70DA8B1D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97" y="3067050"/>
            <a:ext cx="461865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7BC82-9D74-4CE0-B603-06983F7A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647" y="3143250"/>
            <a:ext cx="44281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Integracion con repos y eventos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4A09E-951B-4A3D-ABCF-FFF1C0A9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099388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E403D-F00B-4CE5-9B52-DB17DDA4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9088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RF15, RF16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F81F9-20F3-4381-94BE-658D925A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38" y="3733800"/>
            <a:ext cx="356895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BDB14-0A69-4F49-AF6B-B17BC8D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88" y="3810000"/>
            <a:ext cx="337845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GrupoService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1F9EF-A768-41B8-902E-A932BF81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97" y="3733800"/>
            <a:ext cx="461865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2A823-10D7-42C2-89BA-3FCD70DF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647" y="3810000"/>
            <a:ext cx="44281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Reglas de dominio y casos borde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86641-6454-4897-8DF4-6805F47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099388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6F9FB-0331-4F85-AD08-A8E265A5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9088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Reciclaje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A2DBB4-9525-4B7A-A425-29E24145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38" y="4400550"/>
            <a:ext cx="356895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0A5155-D6F2-4BE6-91F8-6813F24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88" y="4476750"/>
            <a:ext cx="337845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RecyclingApplicationService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D271A-FDE6-4F34-93A3-E95787F5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97" y="4400550"/>
            <a:ext cx="461865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EEED1A-27EB-407E-BE73-7EE4D8D2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647" y="4476750"/>
            <a:ext cx="44281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IT-05 a IT-08, IT-16, IT-17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841B2E-6A9E-4F11-BD63-6A28D41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099388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F8BCBE-5F23-4B65-AF9A-EA833ACF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9088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Extension productiva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3FC94-5F7A-411F-ABBA-B9EE82E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38" y="5067300"/>
            <a:ext cx="356895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2863FA-D8D7-4C29-93A8-0E681CBB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88" y="5143500"/>
            <a:ext cx="337845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UI/E2E + carga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26B48F-193A-4270-B778-D5BBA4B3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97" y="5067300"/>
            <a:ext cx="461865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E3F826-02C4-4249-B6B8-FE22948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647" y="5143500"/>
            <a:ext cx="442815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Appium/Maestro/k6/Grafana como robustez futura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3B628C-E5A2-473F-B979-43031B5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507080-E479-43F3-BA1D-3D80D08F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3605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02131-0752-4A41-9283-10AC937A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PIRAMIDE DE PRUEBAS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B51F6-50A6-4EEE-B167-4637894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Estrategia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94682-1047-444D-9B88-19EE0B1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BE2ED-70D2-4DF5-B3EB-B0905E0F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B330E-3E7D-4E72-903F-DBDDF33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2D31F-89E5-480E-84BD-6809AC20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unitarias + dominio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4084F-B206-4D61-9110-B0726AA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56F9A-2DBB-449D-BDB9-E3CAF3F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621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IT-01..17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1F550-1FFF-42F0-AAD0-0E1A4EB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integracion documentada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755AE-61AF-4654-8C2A-41B5B53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16CF9-7DF9-411F-97B3-BEF63704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13C5D-DAC2-4043-B141-83425337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BDD automatizado definido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B01D4-7252-4432-BB3E-65711D3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CE979-9D5C-498B-A7FB-8DB1685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621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5556C"/>
                </a:solidFill>
              </a:defRPr>
            </a:pPr>
            <a:r>
              <a:rPr sz="3300" b="1">
                <a:solidFill>
                  <a:srgbClr val="45556C"/>
                </a:solidFill>
              </a:rPr>
              <a:t>Extra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3F83C-0F74-43E9-B589-B4F8A235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E2E/carga productiva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35D09-7174-4A70-B7AD-A10C13B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TDD: Kotest BehaviorSpec sobre servicios de dominio.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BDD: Cucumber/Gherkin con glue code en app/src/test/kotlin/steps.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Integracion: servicios de aplicacion + repositorios in-memory + eventos.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Calidad estatica: SonarQube historico + JaCoCo listo para importar.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Performance: Macrobenchmark, Baseline Profile y mediciones ADB.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E94E6-1B81-43C5-AEBB-4FBE61B6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6A1F7-93B8-440C-9B5E-2CFD3228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9582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3A9B9-99E9-4BE8-9266-90C539C3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PROCESO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1B8D3-280D-4D0B-B1BE-9532ECF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TDD + BDD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E6E80-4793-4192-B006-F5175B7F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ADDDD-F605-4CB0-9397-379B6320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20265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E9071-D774-4307-AD52-E050D790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01215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Practica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8805B-3C1F-4FB1-B740-FB85B0C0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1676400"/>
            <a:ext cx="396478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D8453-5B8B-48ED-B823-247CD69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56" y="1752600"/>
            <a:ext cx="37742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Evidencia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B2C67-C320-4808-8BA4-3BE60F0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1676400"/>
            <a:ext cx="44053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ED91A-CAAD-45AE-ABD3-EF5B3AB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1752600"/>
            <a:ext cx="42148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C6A23-BEA3-4CBF-8702-BC84E2C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20265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914A2-5FC8-44A5-9941-0F268F70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01215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TDD 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A4136-7E69-4B20-A3CE-C3A8FA3C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362200"/>
            <a:ext cx="396478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81B21-FC38-434B-BE4F-C910D840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56" y="2438400"/>
            <a:ext cx="37742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RF10/RF13/RF17 specs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F07FB-6D3A-4650-8127-F7FD2E7D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2362200"/>
            <a:ext cx="44053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9CFC7-B828-4E95-BEF5-7FBEEF81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2438400"/>
            <a:ext cx="42148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Ordenamientos deterministas y casos borde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8CA5E-1576-4C36-92C8-44584182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20265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BFE9D-E877-4575-B56F-6FB8424D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01215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TDD grupos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1FF40-83AF-4934-939E-B813936A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3048000"/>
            <a:ext cx="396478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3AD59-405F-426B-BEC6-A821B0DD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56" y="3124200"/>
            <a:ext cx="37742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RF11/RF12/RF14/RF15/RF16 specs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34C7A-55F7-4B78-A836-2D4B5DEB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3048000"/>
            <a:ext cx="44053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B0BDA-78C6-4C58-A263-9882E01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3124200"/>
            <a:ext cx="42148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Reglas puras sin Android/Firebase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40F46-39B8-4C5F-AF14-6298D6E9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20265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C1823-DE6C-4EDC-9729-E2911419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01215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BDD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CE443-E274-4357-BFE1-B8D61A83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3733800"/>
            <a:ext cx="396478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3FF05-D5A1-4585-8912-2B84F0C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56" y="3810000"/>
            <a:ext cx="37742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grupos_ranking_recompensas.feature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49F9A-A1D3-49C2-A76E-F8E2723B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3733800"/>
            <a:ext cx="44053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9CDC7-EE61-4F1F-AFA5-9D16EB00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3810000"/>
            <a:ext cx="42148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Escenarios ejecutables para RF10-RF17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FBCE5-6706-4699-AF6E-883A6AB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220265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B883A-8DA2-445C-8625-E57E2FF3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201215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Glue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EEBA7-8A90-44A2-9FDC-A3A7E7F7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4419600"/>
            <a:ext cx="396478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DC1C81-6F50-410B-9A17-2D3D35F0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56" y="4495800"/>
            <a:ext cx="37742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GruposRankingSteps.kt / UnirseGrupoSteps.kt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2E69D-9447-4DF6-8D4C-725144C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4419600"/>
            <a:ext cx="44053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295817-9443-44DD-8740-B6A732DE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495800"/>
            <a:ext cx="42148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Steps llaman servicios reales de dominio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D442E-6DB7-48C6-A309-8C17365E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Mensaje clave: el comportamiento se especifica primero y se valida con servicios reutilizados por la app.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60E599-BE83-42BB-83F0-C1EF441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E3BC0-D390-4E2D-B428-39C190EB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7954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CA080-060F-4D81-BC13-262071C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BDD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AE2AC-13A5-4BD4-A684-1318BC9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Escenario Gherkin Representativo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B0F1A-4C55-4356-9FA3-F6A9AE51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AA667-D102-424A-958C-5ACC2881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6191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DD3E1-93C7-400B-AD9D-70C282D8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571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Escenario: RF17 calcular ranking grupal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Dado los siguientes grupos para ranking grupal: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  | id | nombre           | puntajeTotal |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  | G1 | EcoVerde         | 500          |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  | G2 | RecicladoresUFRO | 800          |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Cuando calculo el ranking grupal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Entonces el primer grupo debe ser "G2"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E61C3-5E7C-4641-AC11-977BF65B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89D29-8534-44ED-94E0-FA7979A6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Glue/steps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AE4EF-B602-4EA6-BB6D-81375CD4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DataTable → modelos Grupo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RankingService.obtenerRankingGrupal()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assertEquals sobre ID esperado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Sin duplicar reglas de negocio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0D140-9D3E-46F2-A2DC-F83DD3B4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55"/>
                </a:solidFill>
              </a:defRPr>
            </a:pPr>
            <a:r>
              <a:rPr sz="1875" b="1">
                <a:solidFill>
                  <a:srgbClr val="007A55"/>
                </a:solidFill>
              </a:rPr>
              <a:t>Estado: 100% de los escenarios Gherkin definidos en el repo pasan.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F3E3E-0DF7-4F5F-A9D9-93CA28F8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1364B-2FAC-4398-A592-38CE4CE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7166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BD48B-E9D8-4B8A-8D64-989F8D66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COBERTURA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DC062-3930-4534-BACF-ADC7669B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Pruebas Unitarias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CCFD2-7981-43CA-BB47-B3EFE08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7A62F-E4FC-4A70-A3BF-5D0D5162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F2D5A-633A-4E36-94DF-67728548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659D4-4697-4A72-ABAF-6F47941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tests JVM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485A2-2799-4BE7-9CD3-275C844E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B8C7A-0291-4B87-8DB4-50B4A1B0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0/0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A6A00-0962-4D0F-AA92-87E3E23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failures/errors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FB326-A34C-46C0-8057-2EE39EF8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097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4E8D9-5CC6-4747-8878-AFA57B17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89.23%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702FA-4D9E-46C7-9146-B9177AD4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lines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CFE27-EA5F-4BEC-8777-BEDEF65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64CDF-12F4-4043-9143-BD02C8A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812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77.88%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63A0E-FAA5-419A-A840-D661560B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branches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9B5E7-F4B0-4E33-B823-B1F8C00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71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81276-A1A0-4BA6-9141-1C44AD58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812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76.5%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BE265-957A-4606-9734-B222CD2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instructions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52BE6-4E01-4BF1-9EA2-1796C0F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Comando: .\gradlew.bat :app:jacocoDebugUnitTestReport --rerun-tasks --console=plain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Reporte HTML: app/build/reports/jacoco/jacocoDebugUnitTestReport/html/index.html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Resumen versionado: docs/evidencias-avance-02/jacoco-summary.txt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Excluido justificadamente del porcentaje: UI Compose/Firebase directo requiere instrumentacion/E2E.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F0CB9-1DF8-4B84-B0EE-50E554EC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08D2E-01E1-43B9-B3DB-2E2E9477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99189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931E1-FD95-49D2-9343-5283B6B4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SERVICIOS + PUERTOS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AA4AD-EEC2-4813-95F4-7DB07816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Pruebas de Integracion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D8718-4AA6-4C6E-9581-A73659F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88913-FE58-4FC3-AFEC-DF265BA7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18872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252E1-801A-4D83-A4D9-00DCAE9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99822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Suite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56A05-9E0A-4929-8A4D-C56F4B57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73" y="1733550"/>
            <a:ext cx="437744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A9197-1F21-4439-9A32-A7736F64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23" y="1809750"/>
            <a:ext cx="418694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Que integra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6882E-7F85-4835-BDF5-2A3108CB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20" y="1733550"/>
            <a:ext cx="372083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8064B-63F9-4AC9-8C42-7C7A83FC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0" y="1809750"/>
            <a:ext cx="353033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92C3F-2DDC-4EE7-B7F4-125F4E3E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18872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D08F0-A3C7-4170-A87B-67C322C1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99822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IT-01..04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04AA9-9DED-4717-8896-7BC00D0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73" y="2476500"/>
            <a:ext cx="437744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4C734-6918-4B80-836B-3E3992CE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23" y="2552700"/>
            <a:ext cx="418694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GrupoApplicationService + repos + eventos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7D1C0-2871-4660-BD74-F62573A9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20" y="2476500"/>
            <a:ext cx="372083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11D73-DD11-439B-953E-30C4875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0" y="2552700"/>
            <a:ext cx="353033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Crear/unirse/conflictos/404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AE7C1-AD74-43B1-A7C9-E4FDB07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18872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37564-92CE-4CBB-B313-E2ED7D64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99822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IT-05..08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99AD1-F8DE-42A1-A2A2-8016958B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73" y="3219450"/>
            <a:ext cx="437744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9A287-00E4-41EC-92F6-6D47F44E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23" y="3295650"/>
            <a:ext cx="418694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RecyclingApplicationService + storage fake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3C60C-AF15-4253-AA4B-D5A11893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20" y="3219450"/>
            <a:ext cx="372083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922A3-99BE-479B-83D4-6AE2767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0" y="3295650"/>
            <a:ext cx="353033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Solicitud, timeout, canje, errores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54D2A-4127-44A7-843F-335A8A18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18872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FFE6B-8D4F-4844-A9F5-1488589B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99822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IT-09..17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98227-E44D-49A9-97BA-89E08F2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73" y="3962400"/>
            <a:ext cx="437744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01959-D1D5-4A6E-A345-382EE22D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23" y="4038600"/>
            <a:ext cx="418694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Validaciones y ranking ampliado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1AD71-9AB9-4CE1-A028-0E1467FB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20" y="3962400"/>
            <a:ext cx="372083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6A272-7EDD-4577-9F0F-80D2FFCD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0" y="4038600"/>
            <a:ext cx="353033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Ramas negativas y efectos laterales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3609F-F3A3-4A47-A45D-8D2AFB2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18872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5EB386-FD28-4527-947E-58E2F362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99822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Extension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25AB4E-21DB-462F-A6CE-FDCAB34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73" y="4705350"/>
            <a:ext cx="4377447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A814B-E87A-4441-B43C-39B70106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23" y="4781550"/>
            <a:ext cx="418694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Backlog completo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4EF29F-689F-48F2-8639-6386317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20" y="4705350"/>
            <a:ext cx="372083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836D5-F12F-4C2F-95D2-30E64E8C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0" y="4781550"/>
            <a:ext cx="353033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Matriz ampliable al resto del producto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C53DBA-175A-465D-9401-F6FE00DD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Modelo usado: no UI/E2E; integra servicios con dobles in-memory para ejecutar rapido y sin red.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B6C938-769E-4EF5-83D7-D0259D1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08CFC3-9664-4E30-887F-0B6D6B86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2084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BC0BE-366D-43D7-B7BA-8D1304EC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EXTENSION DE MADUREZ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AFF80-08B3-4091-8971-DE28038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Pruebas E2E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9EB51-37DF-4248-BC1D-0BDFBD38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FE885-B179-46FE-8CF3-F68833C8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Rol en esta entrega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2C4D2-027A-4A0A-8178-D56BDE5F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556C"/>
                </a:solidFill>
              </a:defRPr>
            </a:pPr>
            <a:r>
              <a:rPr sz="1425" b="1">
                <a:solidFill>
                  <a:srgbClr val="45556C"/>
                </a:solidFill>
              </a:rPr>
              <a:t>Extensión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1F40E-FA87-451C-865F-30615110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Pruebas UI completas para despliegue productivo, no nucleo del alcance TDD/BDD.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F610B-8341-4AAB-B64F-3596FAE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3BF89-8EDE-4A96-B14C-69E00F8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Herramienta sugerida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3C80C-2293-42BD-BA19-EF4283DD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556C"/>
                </a:solidFill>
              </a:defRPr>
            </a:pPr>
            <a:r>
              <a:rPr sz="1425" b="1">
                <a:solidFill>
                  <a:srgbClr val="45556C"/>
                </a:solidFill>
              </a:rPr>
              <a:t>Propuesto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C74C8-DDEF-45BF-86F5-3288228D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431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Appium o Maestro para app Android; Playwright solo si hay web/admin/API.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E8408-7852-4102-BF0C-8E79F305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39B40-396E-456D-98B8-D2C3BEF9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Matriz ampliable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7D1CB-071C-422D-B1EC-FCACBB41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556C"/>
                </a:solidFill>
              </a:defRPr>
            </a:pPr>
            <a:r>
              <a:rPr sz="1425" b="1">
                <a:solidFill>
                  <a:srgbClr val="45556C"/>
                </a:solidFill>
              </a:rPr>
              <a:t>Propuesto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9CB09-3E0D-4F9E-A2D7-011E739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1 flujo principal por CU si se formaliza una fase E2E completa.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3CD13-57E5-45C4-8D39-CE979BD0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2454F-6F78-43D6-BAA5-FDED9A7E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Relacion con BDD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AAB88-35C1-43B9-B085-5D74D53D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A55"/>
                </a:solidFill>
              </a:defRPr>
            </a:pPr>
            <a:r>
              <a:rPr sz="1425" b="1">
                <a:solidFill>
                  <a:srgbClr val="007A55"/>
                </a:solidFill>
              </a:rPr>
              <a:t>Validado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0AB33-0445-44B2-80B3-E8849EC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Los escenarios Gherkin existentes ya tienen glue y pasan en la suite JVM.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F2411-1EC0-43B7-98DC-D35F876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78B90-CB26-430B-AC64-5FB5B52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A55"/>
                </a:solidFill>
              </a:defRPr>
            </a:pPr>
            <a:r>
              <a:rPr sz="1950" b="1">
                <a:solidFill>
                  <a:srgbClr val="007A55"/>
                </a:solidFill>
              </a:rPr>
              <a:t>Mensaje: E2E es una capa de robustez posterior, no una debilidad del alcance evaluado.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3483B-1208-4DA5-919B-83B5952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9D66A-FF3D-460E-8E66-BBA3A72F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695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900AF-9B55-4BD3-B5C3-3A833164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ROBUSTEZ PRODUCTIVA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23415-7484-4830-9CCB-1FB80A3B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Carga y Estres con Grafana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D2479-8699-43A7-BF68-52425C8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65EC1-DF55-4D9A-BDCC-4D8044F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34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52DA3-D3EA-4B67-B1DC-5E9F59A5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215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Elemento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54D4C-B53A-4576-98E4-E4A891B3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50" y="1695450"/>
            <a:ext cx="305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BA51E-38DF-4F6B-B858-8B630F40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771650"/>
            <a:ext cx="2863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Lectura de alcance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FB56A-4146-4BC8-81E6-0AB7843C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1695450"/>
            <a:ext cx="516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6886A-85A3-429C-8BDF-783B721C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1771650"/>
            <a:ext cx="497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Extension recomendada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5066-A4A5-49F2-95EE-A3FB1FA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4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27970-93D8-4BC4-8BC5-A32147D6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15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APIs relevantes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7682B-AFB5-4D7A-BE5B-1201103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50" y="2381250"/>
            <a:ext cx="305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3D36D-EDFF-4BFF-A408-7F0F02D9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2457450"/>
            <a:ext cx="2863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La app usa Firebase/servicios externos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130A5-B4E5-4ACC-B234-C1BA747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2381250"/>
            <a:ext cx="516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E0709-6349-49A3-92D6-2DC46AE4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2457450"/>
            <a:ext cx="497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Definir backend proxy o endpoints medibles si aplica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79008-F467-425D-BC9C-13188482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34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01DD3-A0DE-4A2D-BC47-1EC54D80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15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Herramienta carga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EEC60-5867-45A5-A0D6-481FBD1C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50" y="3067050"/>
            <a:ext cx="305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21980-0542-4C91-AB3B-5E8C91D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3143250"/>
            <a:ext cx="2863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No necesaria para dominio JVM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5D412-2E76-4CD9-98B1-4C007DCA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3067050"/>
            <a:ext cx="516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1CB2D-7130-4B00-95E6-CC8F2C48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3143250"/>
            <a:ext cx="497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k6 con login/grupos/reciclaje/recompensas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A2B76-DE5D-40CD-9AEC-A58CEDE9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234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84B1E-2822-4775-B947-FAC48D2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15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Grafana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F4F97-AF80-462B-9130-53A28C2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50" y="3752850"/>
            <a:ext cx="305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48661-6FFA-4379-BB02-49149EA4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3829050"/>
            <a:ext cx="2863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Observabilidad productiva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00A72-8358-4256-AE7E-56EC8F13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3752850"/>
            <a:ext cx="516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75981-25F5-4136-980B-8D5EECA2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3829050"/>
            <a:ext cx="497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k6 + Prometheus/InfluxDB + dashboard Grafana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2EB16-A3DB-42DB-85CD-C4A0B055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34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C21A4-7C32-48B8-9A4E-2D88D9E4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15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Metricas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5C2C8-EDB6-43A0-81F0-7B446613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50" y="4438650"/>
            <a:ext cx="305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4BDA6-A27C-47D5-A8D2-A1FBFFF4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4514850"/>
            <a:ext cx="2863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Para operacion real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F5220F-4409-4937-8079-B7A5638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4438650"/>
            <a:ext cx="516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CDEF4-C946-4123-9845-DECD41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4514850"/>
            <a:ext cx="497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p95/p99, throughput, error rate, CPU/mem si aplica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D18C05-480A-417F-BA49-191367E5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55"/>
                </a:solidFill>
              </a:defRPr>
            </a:pPr>
            <a:r>
              <a:rPr sz="1800" b="1">
                <a:solidFill>
                  <a:srgbClr val="007A55"/>
                </a:solidFill>
              </a:rPr>
              <a:t>La evidencia actual cubre rendimiento mobile; Grafana queda como observabilidad de operacion.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509E68-A97B-4807-9B86-06C611F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D9D7C-0E98-4BEA-8538-4A34414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76152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0F875C-BA98-4E9C-9679-B173220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MANTENIBILIDAD, FIABILIDAD,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9F897-F04E-49A2-B7CA-B8CCA41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SonarQube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6101B-6E85-4B75-A4CE-7E6856B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DE371-2E21-49C7-9E4A-6128114D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0BEBB-3A04-4F0B-A8C1-CAA4208E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868CF-92B0-4F1F-945C-C963510F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Quality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27E5F-FDFE-4CF3-829F-07E906A0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716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5869-AB8E-4B5A-81A8-DD2C9C3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A379C-5620-45C9-BA24-D1CF85F0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Bugs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821FF-6924-431A-BCDB-8DEFDD0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716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CBB6F-F784-484D-884C-06840B2A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431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ABED9-6354-42F2-B9D4-3CE76EC0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Vulnerabilities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B9ED6-3921-483C-A965-B154766B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6B2B2-39C0-4E4B-AEF0-ABC0E61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431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4900"/>
                </a:solidFill>
              </a:defRPr>
            </a:pPr>
            <a:r>
              <a:rPr sz="3300" b="1">
                <a:solidFill>
                  <a:srgbClr val="F54900"/>
                </a:solidFill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A3574-F80D-4C58-A504-5C6CE0E5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527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Code Smells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62669-A8CF-486E-BF9D-648B935D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7165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2D27C-D172-496B-8043-634ED5F4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4310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0.0%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A7FD2-9939-4C2F-BE36-70B3A8CE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Duplications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3F063-1DA5-485A-B4B8-FA82008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009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Ratings historicos: Maintainability A, Security A, Reliability A.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Dos smells resueltos: literal duplicado y bloque vacio.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Pendiente: reejecutar Sonar con Docker Desktop activo para importar JaCoCo actual.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Deuda principal: complejidad cognitiva y funciones con demasiados parametros.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630AA-05BD-4EE6-B2DA-2C9482BB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893CF-BBE5-40B4-A2EA-D5D72FC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72715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3F9EE-05A1-4C6C-8491-F9E2E3DE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OPTIMIZACIONES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ED69F-AD40-4A5A-85A4-6223DD53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Rendimiento Mobile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51022-3E0F-4FF3-9DD4-6466E768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6D128-6C79-41EF-8561-AEE00FD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74737-A26F-4324-9CA5-17EEDD5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-75.77%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D2022-AB04-4FF0-966F-7EEDF81C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APK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7B12-8CF4-4F90-9885-41A6ECAB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09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2B018-9E3C-49CA-8654-B1C269C3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-31.34%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EB66F-CC61-48D9-AF36-E9BFCDA2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908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startup mediana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B265D-CB68-487C-A157-A87456B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784FA-0755-472D-9EA5-AB5FA275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812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3.256s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1CEFE-8BFC-4E0F-84E4-FEDA626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cold startup p50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EA41B-FEC2-4EA3-8F4B-AC0E61F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1E25E-55C4-42AB-B6FC-A3E9BA0A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A55"/>
                </a:solidFill>
              </a:defRPr>
            </a:pPr>
            <a:r>
              <a:rPr sz="3300" b="1">
                <a:solidFill>
                  <a:srgbClr val="007A55"/>
                </a:solidFill>
              </a:rPr>
              <a:t>16.77ms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BAD91-E91B-41F6-AA35-328F4B44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frame CPU p99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DED48-66C8-47A2-BB93-DA265CE1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Macrobenchmark se movio fuera del APK productivo.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Baseline Profile + ProfileInstaller agregados.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QR usa executor dedicado, backpressure y throttle.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Map/History/Rewards cachean y reducen recomposiciones/cargas repetidas.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7478B-C473-48CC-B552-AEE7837C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C45E9-87E5-4A32-84DC-498FAAB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45036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DABCE7-BF8A-47FD-913C-9CB21C2B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C5BE8-C375-4CDD-96B9-CC5CA12F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Evolucion Posterior al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1C895-9A42-4EA9-ADF5-7821B077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4A7AA-F3FE-4334-B55B-F28254C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7261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C9AD1-601A-4BB1-A602-C67CA264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5356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Horizonte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E0B97-43D7-43D0-8FE7-1C59E9C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3" y="1676400"/>
            <a:ext cx="40996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52165-C93E-4197-9CE6-7B1CBF46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13" y="1752600"/>
            <a:ext cx="39091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Mejora propuesta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3E8A3-E350-4D0E-A841-4D23F80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01" y="1676400"/>
            <a:ext cx="474694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C83CA-1FBE-43B3-A0F6-C9B47EFB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951" y="1752600"/>
            <a:ext cx="455644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Evidencia esperada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1C40A-362C-43D8-A36A-D5383E53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7261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CFED8-A84D-417D-98B3-6F10878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356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Corto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DBE73-8A83-488D-AC53-9ACBE54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3" y="2266950"/>
            <a:ext cx="40996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04BD9-FDCA-4D8A-A88A-A705C6A2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13" y="2343150"/>
            <a:ext cx="39091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Ampliar matriz CU/RF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6C5C6-8722-4936-AA02-D1A5A2FB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01" y="2266950"/>
            <a:ext cx="474694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36072-5C7A-4F40-91DB-F3DC5C1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951" y="2343150"/>
            <a:ext cx="455644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Trazabilidad para todo el backlog del producto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94E4C-782A-4312-8A64-B5050233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7261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C904E-EC26-4416-8164-15ABA58F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5356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Corto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0B8EC-1A94-476F-A55A-8D454AE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3" y="2857500"/>
            <a:ext cx="40996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C652C-16A6-4B1A-B325-0DF45683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13" y="2933700"/>
            <a:ext cx="39091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E2E de flujos criticos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E1D42-0D0D-4C6A-A6AC-EB9FDA8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01" y="2857500"/>
            <a:ext cx="474694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AE628-2EBA-4AF9-A59F-906E23A4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951" y="2933700"/>
            <a:ext cx="455644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Suite Appium/Maestro + reporte + capturas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9BB37-29B8-44A9-8421-DD4E05B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7261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2458F-3BCB-4FA3-9C62-FCA35BB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5356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Medio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AEE87-AB88-4399-B070-41B7BEE6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3" y="3448050"/>
            <a:ext cx="40996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62626-D753-48B2-AF43-C94D3D59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13" y="3524250"/>
            <a:ext cx="39091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Carga/estres con Grafana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80AAA-2A45-4273-BC0C-EC3BB8B7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01" y="3448050"/>
            <a:ext cx="474694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688B6-948C-4AD2-A857-80A1814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951" y="3524250"/>
            <a:ext cx="455644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k6 + dashboard + p95/p99/throughput/error 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E29F6-AF3B-492A-8112-B275517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7261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7F91F-EFA8-4B72-880A-501B925C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5356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Medio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BAA6E-3E6C-418F-BC94-0F7A1410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3" y="4038600"/>
            <a:ext cx="40996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60A0C-56DB-4EF1-92B2-CE99170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13" y="4114800"/>
            <a:ext cx="39091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Sonar actualizado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A2DDC-35B7-44E1-ABC6-B7EAE7F8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01" y="4038600"/>
            <a:ext cx="474694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7F426-EE38-49BB-8D3E-BA28C10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951" y="4114800"/>
            <a:ext cx="455644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Dashboard con JaCoCo importado y quality gate final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DCF46F-3A6F-43FC-AD1B-10FB8BD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7261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F6E87-30D9-499D-950C-92D7D528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5356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Continuo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03A918-21B4-407D-9BE5-8FC3850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3" y="4629150"/>
            <a:ext cx="40996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97EE63-8E38-4A6C-AC14-B169C76A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13" y="4705350"/>
            <a:ext cx="39091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Refactor mantenibilidad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4CEF1B-5F75-4A9B-AF89-75E0DE21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01" y="4629150"/>
            <a:ext cx="474694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D785E2-2877-41EB-8AC5-587D000B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951" y="4705350"/>
            <a:ext cx="4556449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Complejidad y parametros reducidos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4763EB-13DB-418C-B692-6282BA7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Lectura: estas acciones elevan madurez productiva; el alcance del ramo ya queda sustentado.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1AF1B2-1B51-492C-A3EB-EEA9BC4E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BB93E2-8B97-4C46-9878-71BCCD94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23425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02103-B354-41AB-B456-8CCD186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MADUREZ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ECA18-82A6-4502-AD33-D019AECE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A2EA4-636E-46B6-A1C6-D6533C6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BDAD0-4138-4048-82A8-88C37843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9810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20618"/>
                </a:solidFill>
              </a:defRPr>
            </a:pPr>
            <a:r>
              <a:rPr sz="1875" b="0">
                <a:solidFill>
                  <a:srgbClr val="020618"/>
                </a:solidFill>
              </a:rPr>
              <a:t>• La arquitectura por capas facilita TDD, BDD e integracion sin depender de Firebase real.</a:t>
            </a:r>
          </a:p>
          <a:p xmlns:a="http://schemas.openxmlformats.org/drawingml/2006/main">
            <a:pPr algn="l">
              <a:defRPr sz="1875" b="0">
                <a:solidFill>
                  <a:srgbClr val="020618"/>
                </a:solidFill>
              </a:defRPr>
            </a:pPr>
            <a:r>
              <a:rPr sz="1875" b="0">
                <a:solidFill>
                  <a:srgbClr val="020618"/>
                </a:solidFill>
              </a:rPr>
              <a:t>• La cobertura local sobre el bloque implementado supera 70% en lineas y ramas.</a:t>
            </a:r>
          </a:p>
          <a:p xmlns:a="http://schemas.openxmlformats.org/drawingml/2006/main">
            <a:pPr algn="l">
              <a:defRPr sz="1875" b="0">
                <a:solidFill>
                  <a:srgbClr val="020618"/>
                </a:solidFill>
              </a:defRPr>
            </a:pPr>
            <a:r>
              <a:rPr sz="1875" b="0">
                <a:solidFill>
                  <a:srgbClr val="020618"/>
                </a:solidFill>
              </a:rPr>
              <a:t>• Sonar muestra buena fiabilidad/seguridad historica, con deuda de mantenibilidad acotada.</a:t>
            </a:r>
          </a:p>
          <a:p xmlns:a="http://schemas.openxmlformats.org/drawingml/2006/main">
            <a:pPr algn="l">
              <a:defRPr sz="1875" b="0">
                <a:solidFill>
                  <a:srgbClr val="020618"/>
                </a:solidFill>
              </a:defRPr>
            </a:pPr>
            <a:r>
              <a:rPr sz="1875" b="0">
                <a:solidFill>
                  <a:srgbClr val="020618"/>
                </a:solidFill>
              </a:rPr>
              <a:t>• Rendimiento mobile mejoro de forma medible en peso de APK y arranque.</a:t>
            </a:r>
          </a:p>
          <a:p xmlns:a="http://schemas.openxmlformats.org/drawingml/2006/main">
            <a:pPr algn="l">
              <a:defRPr sz="1875" b="0">
                <a:solidFill>
                  <a:srgbClr val="020618"/>
                </a:solidFill>
              </a:defRPr>
            </a:pPr>
            <a:r>
              <a:rPr sz="1875" b="0">
                <a:solidFill>
                  <a:srgbClr val="020618"/>
                </a:solidFill>
              </a:rPr>
              <a:t>• E2E, carga y Grafana quedan como proyeccion natural para operacion productiva.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F9004-DCEA-46CC-B910-3B314A2C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8048B-A5C2-4D77-A737-68079732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55"/>
                </a:solidFill>
              </a:defRPr>
            </a:pPr>
            <a:r>
              <a:rPr sz="1800" b="1">
                <a:solidFill>
                  <a:srgbClr val="007A55"/>
                </a:solidFill>
              </a:rPr>
              <a:t>Mensaje de cierre: EcoSense queda defendible por evidencia tecnica, no solo por descripcion funcional.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408BE-40ED-45C2-A984-3B74D147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259A9-1762-4F7D-A8E4-0260C88D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03868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C0B5E6-1301-4D9A-9ECD-7B0D012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6C"/>
                </a:solidFill>
              </a:defRPr>
            </a:pPr>
            <a:r>
              <a:rPr sz="1200" b="1">
                <a:solidFill>
                  <a:srgbClr val="45556C"/>
                </a:solidFill>
              </a:rPr>
              <a:t>RUTAS DEL REPOSITORIO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1F4A5-AD15-4328-9784-251E5A53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Referencias y Evidencias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F63B2-CEE4-4B22-91DE-ECB298D9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8058C-961A-4DC2-BC49-DFC44B41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DD4A5-C4E4-4490-96DF-02155C60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6740C-9FDC-46AF-8662-62410AA9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167640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EBB45-757C-4D17-95D4-DD272AD6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175260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Ruta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2C5E2-5937-4562-BB20-24B1EFBA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61694-0644-420E-8E42-9D375A2D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Informe Avance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BEA9B-B14A-4013-A7CF-06E027C8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215265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8A893-3DDE-4076-B766-ADB903A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222885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docs/informe-avance-02-ecosense.pdf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28EE6-42DB-4C2A-A96C-95A6032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DEB33-1F0D-4CEA-8BE0-32AF9A07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Logs y cobertura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C359E-677A-4DCD-9D19-96AF36E1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262890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93947-F81B-4496-9373-409BC48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270510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docs/evidencias-avance-02/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7FE7B-A102-406A-904C-573F57D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B85DB-B6D1-4B34-B121-DAA7092C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BDD + glue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C11EE-E257-4118-9B2F-2E27F9EB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310515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DCC92-4906-45CE-B85B-59DA939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318135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app/src/test/resources/features · app/src/test/kotlin/steps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CFE80-45D0-490D-B7C9-967D7E22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AE96E-5834-42DF-BF41-11DB8418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Integracion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356F5-2E6E-459D-8ADF-705915FB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358140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6933F-E6D8-4797-9E5A-E831F5AF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365760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app/src/test/kotlin/com/ecosense/integration/EcoSenseIntegrationSpec.kt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84883-13EE-46EA-B9E5-A9E83073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D1845-0A38-4C60-B468-AF1C6EEE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Sonar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74A8E-D1FF-4B3D-B6A7-1196644E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405765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97582-9F5A-4762-AC17-67D7157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413385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docs/informe-sonarqube-ecosense.md · docs/sonarqube-*.json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53257-C62B-4798-8E59-6AF190A5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6205D-5BB3-4E64-A9F3-0CCBE9C7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Arquitectura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ABDE7-8057-41EA-820C-3B871AE3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453390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2B09C-7D4E-4192-961C-54CDBC3C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461010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docs/diagramas-c4/*.puml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63E823-CC17-4197-82C6-443456AE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75810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19F1C-56A9-44D4-88F5-D2D30B7A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25676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Performance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C38AA-561D-4BB2-9D70-07A5AA84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09" y="5010150"/>
            <a:ext cx="781464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E0B9E8-5D49-480E-B229-D03318A1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59" y="5086350"/>
            <a:ext cx="76241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docs/informe-rendimiento-ecosense.md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0A5A89-5173-47A7-ACDB-AEBBD85D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Repositorio/rama: codex/performance-optimizations · commit de cierre Avance 02: ce7439c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099BD-11A9-41DD-8637-69EC8EC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EcoSense · Presentación final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88EFF2-D8E4-40EC-8E30-7DC876D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81676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2026-06-24T10:14:20.5020000Z</dcterms:created>
  <dcterms:modified xsi:type="dcterms:W3CDTF">2026-06-24T10:14:20.5020000Z</dcterms:modified>
</coreProperties>
</file>