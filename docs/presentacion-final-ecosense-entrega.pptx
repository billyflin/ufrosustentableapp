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1fafc0b6b1a4793" /><Relationship Type="http://schemas.openxmlformats.org/officeDocument/2006/relationships/extended-properties" Target="/docProps/app.xml" Id="Rf6805be300f44a1a" /><Relationship Type="http://schemas.openxmlformats.org/officeDocument/2006/relationships/officeDocument" Target="/ppt/presentation.xml" Id="R7b3df31bf6ec4ae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8887239b05cd4fcc"/>
  </p:sldMasterIdLst>
  <p:notesMasterIdLst>
    <p:notesMasterId xmlns:r="http://schemas.openxmlformats.org/officeDocument/2006/relationships" r:id="R37ecc4da8f7d4a10"/>
  </p:notesMasterIdLst>
  <p:sldIdLst>
    <p:sldId xmlns:r="http://schemas.openxmlformats.org/officeDocument/2006/relationships" id="256" r:id="Rbfc9c459a3ee45fe"/>
    <p:sldId xmlns:r="http://schemas.openxmlformats.org/officeDocument/2006/relationships" id="257" r:id="R303ed22c7c264696"/>
    <p:sldId xmlns:r="http://schemas.openxmlformats.org/officeDocument/2006/relationships" id="258" r:id="Rbeab82ed6d4e4a54"/>
    <p:sldId xmlns:r="http://schemas.openxmlformats.org/officeDocument/2006/relationships" id="259" r:id="R5a52d1c0cd934e1e"/>
    <p:sldId xmlns:r="http://schemas.openxmlformats.org/officeDocument/2006/relationships" id="260" r:id="Rb9fda0133d2c4f22"/>
    <p:sldId xmlns:r="http://schemas.openxmlformats.org/officeDocument/2006/relationships" id="261" r:id="R07a223405bd34e38"/>
    <p:sldId xmlns:r="http://schemas.openxmlformats.org/officeDocument/2006/relationships" id="262" r:id="R2cf0012962fa448d"/>
    <p:sldId xmlns:r="http://schemas.openxmlformats.org/officeDocument/2006/relationships" id="263" r:id="R5b8e3c5e3ef84214"/>
    <p:sldId xmlns:r="http://schemas.openxmlformats.org/officeDocument/2006/relationships" id="264" r:id="Rc6186883dea54bd5"/>
    <p:sldId xmlns:r="http://schemas.openxmlformats.org/officeDocument/2006/relationships" id="265" r:id="R526a643884464c6e"/>
    <p:sldId xmlns:r="http://schemas.openxmlformats.org/officeDocument/2006/relationships" id="266" r:id="R7724ae52e0c04b9c"/>
    <p:sldId xmlns:r="http://schemas.openxmlformats.org/officeDocument/2006/relationships" id="267" r:id="Rcd153355543f43a4"/>
    <p:sldId xmlns:r="http://schemas.openxmlformats.org/officeDocument/2006/relationships" id="268" r:id="R62cc046ba441478e"/>
  </p:sldIdLst>
  <p:sldSz cx="12192000" cy="6858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fe9967253ed7497e" /><Relationship Type="http://schemas.openxmlformats.org/officeDocument/2006/relationships/slideMaster" Target="/ppt/slideMasters/slideMaster1.xml" Id="R8887239b05cd4fcc" /><Relationship Type="http://schemas.openxmlformats.org/officeDocument/2006/relationships/notesMaster" Target="/ppt/notesMasters/notesMaster1.xml" Id="R37ecc4da8f7d4a10" /><Relationship Type="http://schemas.openxmlformats.org/officeDocument/2006/relationships/presProps" Target="/ppt/presProps.xml" Id="R4dcb179d8bb4483a" /><Relationship Type="http://schemas.openxmlformats.org/officeDocument/2006/relationships/tableStyles" Target="/ppt/tableStyles.xml" Id="R160156953c4c4c11" /><Relationship Type="http://schemas.openxmlformats.org/officeDocument/2006/relationships/slide" Target="/ppt/slides/slide1.xml" Id="Rbfc9c459a3ee45fe" /><Relationship Type="http://schemas.openxmlformats.org/officeDocument/2006/relationships/slide" Target="/ppt/slides/slide2.xml" Id="R303ed22c7c264696" /><Relationship Type="http://schemas.openxmlformats.org/officeDocument/2006/relationships/slide" Target="/ppt/slides/slide3.xml" Id="Rbeab82ed6d4e4a54" /><Relationship Type="http://schemas.openxmlformats.org/officeDocument/2006/relationships/slide" Target="/ppt/slides/slide4.xml" Id="R5a52d1c0cd934e1e" /><Relationship Type="http://schemas.openxmlformats.org/officeDocument/2006/relationships/slide" Target="/ppt/slides/slide5.xml" Id="Rb9fda0133d2c4f22" /><Relationship Type="http://schemas.openxmlformats.org/officeDocument/2006/relationships/slide" Target="/ppt/slides/slide6.xml" Id="R07a223405bd34e38" /><Relationship Type="http://schemas.openxmlformats.org/officeDocument/2006/relationships/slide" Target="/ppt/slides/slide7.xml" Id="R2cf0012962fa448d" /><Relationship Type="http://schemas.openxmlformats.org/officeDocument/2006/relationships/slide" Target="/ppt/slides/slide8.xml" Id="R5b8e3c5e3ef84214" /><Relationship Type="http://schemas.openxmlformats.org/officeDocument/2006/relationships/slide" Target="/ppt/slides/slide9.xml" Id="Rc6186883dea54bd5" /><Relationship Type="http://schemas.openxmlformats.org/officeDocument/2006/relationships/slide" Target="/ppt/slides/slide10.xml" Id="R526a643884464c6e" /><Relationship Type="http://schemas.openxmlformats.org/officeDocument/2006/relationships/slide" Target="/ppt/slides/slide11.xml" Id="R7724ae52e0c04b9c" /><Relationship Type="http://schemas.openxmlformats.org/officeDocument/2006/relationships/slide" Target="/ppt/slides/slide12.xml" Id="Rcd153355543f43a4" /><Relationship Type="http://schemas.openxmlformats.org/officeDocument/2006/relationships/slide" Target="/ppt/slides/slide13.xml" Id="R62cc046ba441478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99c91b529a4e480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74a22de620f477b" /><Relationship Type="http://schemas.openxmlformats.org/officeDocument/2006/relationships/notesMaster" Target="/ppt/notesMasters/notesMaster1.xml" Id="R6e0a0e5fc1f24fce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9c88caf13a2349e5" /><Relationship Type="http://schemas.openxmlformats.org/officeDocument/2006/relationships/notesMaster" Target="/ppt/notesMasters/notesMaster1.xml" Id="R19352d9735f64158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a5e8009345544ccd" /><Relationship Type="http://schemas.openxmlformats.org/officeDocument/2006/relationships/notesMaster" Target="/ppt/notesMasters/notesMaster1.xml" Id="R38269be27b2140b3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b9537f7d9d314aa9" /><Relationship Type="http://schemas.openxmlformats.org/officeDocument/2006/relationships/notesMaster" Target="/ppt/notesMasters/notesMaster1.xml" Id="R5e82fa6c131a483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dbb0354165a44fe" /><Relationship Type="http://schemas.openxmlformats.org/officeDocument/2006/relationships/notesMaster" Target="/ppt/notesMasters/notesMaster1.xml" Id="Ra3d205a80188460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d4e23e2edd254c8d" /><Relationship Type="http://schemas.openxmlformats.org/officeDocument/2006/relationships/notesMaster" Target="/ppt/notesMasters/notesMaster1.xml" Id="R71df9b919ad046c1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8264eba849a44feb" /><Relationship Type="http://schemas.openxmlformats.org/officeDocument/2006/relationships/notesMaster" Target="/ppt/notesMasters/notesMaster1.xml" Id="R30b29adee03a4a07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09b7163f7304ae4" /><Relationship Type="http://schemas.openxmlformats.org/officeDocument/2006/relationships/notesMaster" Target="/ppt/notesMasters/notesMaster1.xml" Id="R61ffbbeb21144078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ec72ed92065b41e3" /><Relationship Type="http://schemas.openxmlformats.org/officeDocument/2006/relationships/notesMaster" Target="/ppt/notesMasters/notesMaster1.xml" Id="Ra63f8642878b4037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766be82eb25e4578" /><Relationship Type="http://schemas.openxmlformats.org/officeDocument/2006/relationships/notesMaster" Target="/ppt/notesMasters/notesMaster1.xml" Id="R524f7028a8644cf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bc4a17389604d3d" /><Relationship Type="http://schemas.openxmlformats.org/officeDocument/2006/relationships/notesMaster" Target="/ppt/notesMasters/notesMaster1.xml" Id="R69df0ed104284a8a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33d794ca2862497e" /><Relationship Type="http://schemas.openxmlformats.org/officeDocument/2006/relationships/notesMaster" Target="/ppt/notesMasters/notesMaster1.xml" Id="Rb961b1803d3e449d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0dcd8c6cd4c448dc" /><Relationship Type="http://schemas.openxmlformats.org/officeDocument/2006/relationships/notesMaster" Target="/ppt/notesMasters/notesMaster1.xml" Id="R3a991fa1e6dd4eb6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6beea6ec050549d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9c57566ac924514" /><Relationship Type="http://schemas.openxmlformats.org/officeDocument/2006/relationships/slideLayout" Target="/ppt/slideLayouts/slideLayout1.xml" Id="Re6602ef86da0444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6602ef86da0444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34f6032ae54bc9" /><Relationship Type="http://schemas.openxmlformats.org/officeDocument/2006/relationships/image" Target="/ppt/media/image.png" Id="R4b0d1632a7394c75" /><Relationship Type="http://schemas.openxmlformats.org/officeDocument/2006/relationships/notesSlide" Target="/ppt/notesSlides/notesSlide1.xml" Id="R86bea82555d6423d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cb2e1ae3a0d49be" /><Relationship Type="http://schemas.openxmlformats.org/officeDocument/2006/relationships/notesSlide" Target="/ppt/notesSlides/notesSlide2.xml" Id="Rbcc152e7633746dc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85a60625354f03" /><Relationship Type="http://schemas.openxmlformats.org/officeDocument/2006/relationships/image" Target="/ppt/media/image2.png" Id="Rb7c35a8d8e874500" /><Relationship Type="http://schemas.openxmlformats.org/officeDocument/2006/relationships/image" Target="/ppt/media/image3.png" Id="Rdcd1fdff9c004e57" /><Relationship Type="http://schemas.openxmlformats.org/officeDocument/2006/relationships/image" Target="/ppt/media/image4.png" Id="Red97ef70a82b401c" /><Relationship Type="http://schemas.openxmlformats.org/officeDocument/2006/relationships/notesSlide" Target="/ppt/notesSlides/notesSlide3.xml" Id="R34f43c1336b14db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efab5eba2a4a54" /><Relationship Type="http://schemas.openxmlformats.org/officeDocument/2006/relationships/notesSlide" Target="/ppt/notesSlides/notesSlide4.xml" Id="Rcb1453b50c2e432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4140dfb72e499f" /><Relationship Type="http://schemas.openxmlformats.org/officeDocument/2006/relationships/notesSlide" Target="/ppt/notesSlides/notesSlide5.xml" Id="Rba0c9bf7df5c406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e1282e1cd34a01" /><Relationship Type="http://schemas.openxmlformats.org/officeDocument/2006/relationships/notesSlide" Target="/ppt/notesSlides/notesSlide6.xml" Id="Rce111f954632499c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11e747d2039451b" /><Relationship Type="http://schemas.openxmlformats.org/officeDocument/2006/relationships/notesSlide" Target="/ppt/notesSlides/notesSlide7.xml" Id="Rceccfac08d42436a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f4f98cc9b84dcd" /><Relationship Type="http://schemas.openxmlformats.org/officeDocument/2006/relationships/notesSlide" Target="/ppt/notesSlides/notesSlide8.xml" Id="R6a81fdfcabe8458b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3ba52b4b8904dd5" /><Relationship Type="http://schemas.openxmlformats.org/officeDocument/2006/relationships/notesSlide" Target="/ppt/notesSlides/notesSlide9.xml" Id="Rda61d2391c6244e9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5be14041ae746e7" /><Relationship Type="http://schemas.openxmlformats.org/officeDocument/2006/relationships/notesSlide" Target="/ppt/notesSlides/notesSlide10.xml" Id="R2b198073f0e3417c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455e300fba54301" /><Relationship Type="http://schemas.openxmlformats.org/officeDocument/2006/relationships/image" Target="/ppt/media/image5.png" Id="R9ba1a807583947e3" /><Relationship Type="http://schemas.openxmlformats.org/officeDocument/2006/relationships/notesSlide" Target="/ppt/notesSlides/notesSlide11.xml" Id="R659a7ccfd7ca4a2f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b0b770c1984608" /><Relationship Type="http://schemas.openxmlformats.org/officeDocument/2006/relationships/notesSlide" Target="/ppt/notesSlides/notesSlide12.xml" Id="Ra7dcce4757de4714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e41aef3cb3a4ce3" /><Relationship Type="http://schemas.openxmlformats.org/officeDocument/2006/relationships/notesSlide" Target="/ppt/notesSlides/notesSlide13.xml" Id="R4efa553ee8964d0f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018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E562817-1CFF-4D76-85D3-2630A8A43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7145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B8EF8B"/>
          </a:solidFill>
          <a:ln xmlns:a="http://schemas.openxmlformats.org/drawingml/2006/main" w="0">
            <a:solidFill>
              <a:srgbClr val="B8EF8B"/>
            </a:solidFill>
            <a:prstDash val="solid"/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E6A9C4B-4EAB-4EA5-B961-5DE4A63E1B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09600"/>
            <a:ext cx="4953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B8EF8B"/>
                </a:solidFill>
              </a:defRPr>
            </a:pPr>
            <a:r>
              <a:rPr sz="1350" b="1" i="0">
                <a:solidFill>
                  <a:srgbClr val="B8EF8B"/>
                </a:solidFill>
              </a:rPr>
              <a:t>ECOSENSE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0A67979-7625-4AFC-8512-9134C1B186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257300"/>
            <a:ext cx="65722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Calidad demostrable.</a:t>
            </a:r>
          </a:p>
          <a:p xmlns:a="http://schemas.openxmlformats.org/drawingml/2006/main">
            <a:pPr algn="l">
              <a:defRPr sz="4200" b="1" i="0">
                <a:solidFill>
                  <a:srgbClr val="FFFFFF"/>
                </a:solidFill>
              </a:defRPr>
            </a:pPr>
            <a:r>
              <a:rPr sz="4200" b="1" i="0">
                <a:solidFill>
                  <a:srgbClr val="FFFFFF"/>
                </a:solidFill>
              </a:rPr>
              <a:t>Rendimiento medido.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18FF494-D2C3-4B0B-A2DD-4F0C3064EB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971800"/>
            <a:ext cx="5524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CFE1D4"/>
                </a:solidFill>
              </a:defRPr>
            </a:pPr>
            <a:r>
              <a:rPr sz="1875" b="0" i="0">
                <a:solidFill>
                  <a:srgbClr val="CFE1D4"/>
                </a:solidFill>
              </a:rPr>
              <a:t>Presentación final del proyecto semestral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D9D1780-5636-4373-A7CF-C5F2AD70B4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38550"/>
            <a:ext cx="62865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FFFFFF"/>
                </a:solidFill>
              </a:defRPr>
            </a:pPr>
            <a:r>
              <a:rPr sz="1575" b="0" i="0">
                <a:solidFill>
                  <a:srgbClr val="FFFFFF"/>
                </a:solidFill>
              </a:rPr>
              <a:t>8/8 casos priorizados · TDD + BDD · Integración · SonarQube · Performance Android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B6C7D0-67B5-43E6-954B-8CD16B0C58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57750"/>
            <a:ext cx="4762500" cy="838200"/>
          </a:xfrm>
          <a:prstGeom xmlns:a="http://schemas.openxmlformats.org/drawingml/2006/main" prst="roundRect">
            <a:avLst>
              <a:gd name="adj" fmla="val 9091"/>
            </a:avLst>
          </a:prstGeom>
          <a:solidFill xmlns:a="http://schemas.openxmlformats.org/drawingml/2006/main">
            <a:srgbClr val="1C2A21"/>
          </a:solidFill>
          <a:ln xmlns:a="http://schemas.openxmlformats.org/drawingml/2006/main" w="9525">
            <a:solidFill>
              <a:srgbClr val="395141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CD91BDE-626E-476F-924E-584E2F549A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029200"/>
            <a:ext cx="4286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FFFFFF"/>
                </a:solidFill>
              </a:defRPr>
            </a:pPr>
            <a:r>
              <a:rPr sz="1500" b="1" i="0">
                <a:solidFill>
                  <a:srgbClr val="FFFFFF"/>
                </a:solidFill>
              </a:rPr>
              <a:t>Billy Martínez · Bastian Lagos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D3076BE-DD03-46D7-8F26-065CB085E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353050"/>
            <a:ext cx="42862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B9CBBE"/>
                </a:solidFill>
              </a:defRPr>
            </a:pPr>
            <a:r>
              <a:rPr sz="1275" b="0" i="0">
                <a:solidFill>
                  <a:srgbClr val="B9CBBE"/>
                </a:solidFill>
              </a:rPr>
              <a:t>Pruebas de software · UFRO · julio 2026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F2D7340-1DD5-47B4-87B2-6BDD46BF89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82050" y="419100"/>
            <a:ext cx="2552700" cy="5295900"/>
          </a:xfrm>
          <a:prstGeom xmlns:a="http://schemas.openxmlformats.org/drawingml/2006/main" prst="roundRect">
            <a:avLst>
              <a:gd name="adj" fmla="val 2985"/>
            </a:avLst>
          </a:prstGeom>
          <a:solidFill xmlns:a="http://schemas.openxmlformats.org/drawingml/2006/main">
            <a:srgbClr val="101813"/>
          </a:solidFill>
          <a:ln xmlns:a="http://schemas.openxmlformats.org/drawingml/2006/main" w="0">
            <a:solidFill>
              <a:srgbClr val="101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b0d1632a7394c75"/>
          <a:srcRect xmlns:a="http://schemas.openxmlformats.org/drawingml/2006/main" l="0" t="37" r="0" b="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858250" y="495300"/>
            <a:ext cx="2400300" cy="5143500"/>
          </a:xfrm>
          <a:prstGeom xmlns:a="http://schemas.openxmlformats.org/drawingml/2006/main" prst="rect">
            <a:avLst/>
          </a:prstGeom>
        </p:spPr>
      </p:pic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BC80FD9-F59A-4639-94E5-44AF8DD59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24875" y="5962650"/>
            <a:ext cx="30670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B9CBBE"/>
                </a:solidFill>
              </a:defRPr>
            </a:pPr>
            <a:r>
              <a:rPr sz="1275" b="0" i="0">
                <a:solidFill>
                  <a:srgbClr val="B9CBBE"/>
                </a:solidFill>
              </a:rPr>
              <a:t>App real · Samsung S22</a:t>
            </a:r>
          </a:p>
        </p:txBody>
      </p:sp>
    </p:spTree>
    <p:extLst>
      <p:ext uri="{BB962C8B-B14F-4D97-AF65-F5344CB8AC3E}">
        <p14:creationId xmlns:p14="http://schemas.microsoft.com/office/powerpoint/2010/main" val="945797499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6570E23-3B05-4EC0-886C-BC56B0C31B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CONCLUSIÓN PRIMERO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0CB5A0-017A-4D2E-A246-6B1843773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El alcance priorizado está completo y medido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58ED81C-4C34-41A9-A32B-A388A935C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71F911-305C-40FC-91F0-946CFB7E1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02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DEDA8E8-6971-448C-8B41-258943125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540923F-7E73-445F-A025-87D3B26E0F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6712DA-801A-4C1F-98E5-21435358C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D0C1644-E2EF-4252-A7D3-EEC26DC09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000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7A42"/>
                </a:solidFill>
              </a:defRPr>
            </a:pPr>
            <a:r>
              <a:rPr sz="2850" b="1" i="0">
                <a:solidFill>
                  <a:srgbClr val="167A42"/>
                </a:solidFill>
              </a:rPr>
              <a:t>8/8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FE1EEB3-F712-4FD8-B329-6A00270538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6289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casos priorizados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400EDA7-1C8E-4F63-A040-07C548B5E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6AD124B-5487-4976-9FFC-10C383484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963B7AE-43DD-4753-98A8-08C8E6F1AF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000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5076A8"/>
                </a:solidFill>
              </a:defRPr>
            </a:pPr>
            <a:r>
              <a:rPr sz="2850" b="1" i="0">
                <a:solidFill>
                  <a:srgbClr val="5076A8"/>
                </a:solidFill>
              </a:rPr>
              <a:t>83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6B51734-3BBA-496C-AACC-438A5F3EF7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26289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tests JVM pasan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43202E-DB7B-4E63-AC27-92D740D5F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9DE4DBE-86BB-4806-974A-63130870AB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22780C-E7BF-4E34-AFD9-111EAD16E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00025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7A42"/>
                </a:solidFill>
              </a:defRPr>
            </a:pPr>
            <a:r>
              <a:rPr sz="2850" b="1" i="0">
                <a:solidFill>
                  <a:srgbClr val="167A42"/>
                </a:solidFill>
              </a:rPr>
              <a:t>89,23%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32E8EA1-E8C2-48DE-B60B-44C0FC34A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34100" y="262890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cobertura de líneas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54BA152-B46F-452A-B03D-F082A050CA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29908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6F525AC-E3A9-44BD-9DA1-B2A34788D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15350" y="1809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85D4D"/>
          </a:solidFill>
          <a:ln xmlns:a="http://schemas.openxmlformats.org/drawingml/2006/main" w="0">
            <a:solidFill>
              <a:srgbClr val="C85D4D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C5A428-81AC-4B19-8591-4C5334B40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000250"/>
            <a:ext cx="26098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C85D4D"/>
                </a:solidFill>
              </a:defRPr>
            </a:pPr>
            <a:r>
              <a:rPr sz="2850" b="1" i="0">
                <a:solidFill>
                  <a:srgbClr val="C85D4D"/>
                </a:solidFill>
              </a:rPr>
              <a:t>-75,77%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504D1A4-E2DD-4CB0-A0E3-F987D1ED32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43950" y="2628900"/>
            <a:ext cx="26098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peso del APK release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0C7CFCC-CB68-4B21-A467-E580DA8C0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714750"/>
            <a:ext cx="1082040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0F4E2E"/>
          </a:solidFill>
          <a:ln xmlns:a="http://schemas.openxmlformats.org/drawingml/2006/main" w="0">
            <a:solidFill>
              <a:srgbClr val="0F4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C8F397-7725-47CA-BAE9-73EE2DC35C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000500"/>
            <a:ext cx="9906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325" b="1" i="0">
                <a:solidFill>
                  <a:srgbClr val="FFFFFF"/>
                </a:solidFill>
              </a:defRPr>
            </a:pPr>
            <a:r>
              <a:rPr sz="2325" b="1" i="0">
                <a:solidFill>
                  <a:srgbClr val="FFFFFF"/>
                </a:solidFill>
              </a:rPr>
              <a:t>La defensa no depende de una promesa de calidad.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C43147B-30A1-476F-B4A7-41C3F8FBE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4552950"/>
            <a:ext cx="962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DDECE2"/>
                </a:solidFill>
              </a:defRPr>
            </a:pPr>
            <a:r>
              <a:rPr sz="1725" b="0" i="0">
                <a:solidFill>
                  <a:srgbClr val="DDECE2"/>
                </a:solidFill>
              </a:rPr>
              <a:t>Cada afirmación se conecta con código, escenarios ejecutables, logs, reportes o benchmarks reproducibles.</a:t>
            </a:r>
          </a:p>
        </p:txBody>
      </p:sp>
    </p:spTree>
    <p:extLst>
      <p:ext uri="{BB962C8B-B14F-4D97-AF65-F5344CB8AC3E}">
        <p14:creationId xmlns:p14="http://schemas.microsoft.com/office/powerpoint/2010/main" val="183837787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02F60309-141C-4E77-B40B-A49ED405C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PRODUCTO FUNCIONANDO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4F78A45-48B2-4DB8-BAFA-D08A94A8C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EcoSense hace visible el progreso del reciclaje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AD6806-42C5-42D4-9F6A-8BF7A1EA4B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BEB2A5-7ABA-4CCD-8DF6-B7240EFDF8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E7B608-8547-4B0A-BDF8-DBB8629C7E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0F47D16-F2F9-43AA-8B53-B6978E02CB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19250"/>
            <a:ext cx="1809750" cy="3714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13"/>
          </a:solidFill>
          <a:ln xmlns:a="http://schemas.openxmlformats.org/drawingml/2006/main" w="0">
            <a:solidFill>
              <a:srgbClr val="101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7c35a8d8e874500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238250" y="1695450"/>
            <a:ext cx="1657350" cy="356235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06C713D-DA2C-4DD3-A55D-CA4C9EE727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619250"/>
            <a:ext cx="1809750" cy="3714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13"/>
          </a:solidFill>
          <a:ln xmlns:a="http://schemas.openxmlformats.org/drawingml/2006/main" w="0">
            <a:solidFill>
              <a:srgbClr val="101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d1fdff9c004e57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257800" y="1695450"/>
            <a:ext cx="1657350" cy="356235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1F8375C-2AEB-44A1-AA28-5BBE1E896A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1619250"/>
            <a:ext cx="1809750" cy="3714750"/>
          </a:xfrm>
          <a:prstGeom xmlns:a="http://schemas.openxmlformats.org/drawingml/2006/main" prst="roundRect">
            <a:avLst>
              <a:gd name="adj" fmla="val 4211"/>
            </a:avLst>
          </a:prstGeom>
          <a:solidFill xmlns:a="http://schemas.openxmlformats.org/drawingml/2006/main">
            <a:srgbClr val="101813"/>
          </a:solidFill>
          <a:ln xmlns:a="http://schemas.openxmlformats.org/drawingml/2006/main" w="0">
            <a:solidFill>
              <a:srgbClr val="101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d97ef70a82b401c"/>
          <a:srcRect xmlns:a="http://schemas.openxmlformats.org/drawingml/2006/main" l="116" t="0" r="116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277350" y="1695450"/>
            <a:ext cx="1657350" cy="356235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B6EADD3-8316-4CEB-8B0B-27D666F66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5524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67A42"/>
                </a:solidFill>
              </a:defRPr>
            </a:pPr>
            <a:r>
              <a:rPr sz="1725" b="1" i="0">
                <a:solidFill>
                  <a:srgbClr val="167A42"/>
                </a:solidFill>
              </a:rPr>
              <a:t>Historial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B53868B-0145-4034-9FC7-D7FA1D470F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583882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Solicitudes y estados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F4FD082-C47D-40FF-A738-DD2D964BB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76800" y="5524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076A8"/>
                </a:solidFill>
              </a:defRPr>
            </a:pPr>
            <a:r>
              <a:rPr sz="1725" b="1" i="0">
                <a:solidFill>
                  <a:srgbClr val="5076A8"/>
                </a:solidFill>
              </a:rPr>
              <a:t>Grupos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3B5AE6A-4BE5-4889-96E9-C9C5B3EB3C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583882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Miembros y ranking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800B8E9-DB43-442B-94BE-055B5EB73E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6350" y="5524500"/>
            <a:ext cx="2419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D69A27"/>
                </a:solidFill>
              </a:defRPr>
            </a:pPr>
            <a:r>
              <a:rPr sz="1725" b="1" i="0">
                <a:solidFill>
                  <a:srgbClr val="D69A27"/>
                </a:solidFill>
              </a:rPr>
              <a:t>Perfil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DAE7DD1-CE03-4992-8976-F6663EF0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5838825"/>
            <a:ext cx="268605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Cuenta y apariencia</a:t>
            </a:r>
          </a:p>
        </p:txBody>
      </p:sp>
    </p:spTree>
    <p:extLst>
      <p:ext uri="{BB962C8B-B14F-4D97-AF65-F5344CB8AC3E}">
        <p14:creationId xmlns:p14="http://schemas.microsoft.com/office/powerpoint/2010/main" val="12193992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7C83A3A6-D51A-4981-B5A3-336ABDFB7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ALCANCE FUNCIONAL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491F41B-B82B-43C5-B3A4-79673C62E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Los 8 casos priorizados están implementados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1BB45B9-F631-4A95-8077-68EF729B9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2E75A65-4ED0-4AAC-A517-1BBE9B508B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04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11A9A2C-BC2C-4F00-ACBE-1189329EA0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3FE02EA-5BDB-40B9-B3B7-EF383988F9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096B16-1E90-4DC2-84B8-C59E80BD6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8002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RF10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16634C4-6DA5-4827-87E8-F952829D9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714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Ranking global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5AB91FC-06B6-455E-BE69-FBAAFFA523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19907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Orden y posición de usuarios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D238112-8134-40F7-9D6D-1D0E8648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9080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0E14B4-3266-4785-907F-8C6769B92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574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RF11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4EC7BE-7182-449E-B16C-8333DBE3B9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717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Crear grupo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5EAB7CF-0ABE-4C01-972F-294608764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8479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Público o privado; creador administrador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1A82365-9FF1-4187-95CC-3743C0CF1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4805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CF71526-31D2-4B7E-88AE-8A1BC6609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147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RF12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CAE8128-494F-45E6-BE3D-B99BD3D869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4290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Unirse a grupo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729425C-9D6F-4C25-B2FC-C1A23B60EA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37052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Ingreso, solicitud pendiente y conflictos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43BDDC9-A0AA-4C16-A593-5B72207FA2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0530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7897F7C-D24F-48AC-B897-24EE895359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71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RF13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D383121-0C22-440C-A919-BD0C19CC0D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2862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Ranking interno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18F7417-64B6-4044-831B-DB0129551A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45624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Miembros ordenados dentro del grupo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AB49E38-9FB9-451B-AEB6-65D1AB0B18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73355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1E69911-C820-48DB-A7A2-B780991E4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8002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RF14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D606F8B-CCE5-4569-AA31-F1117B850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7145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Puntos grupales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57EFF73-F918-45A4-9EF1-6F2EB21EE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907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Acumulación personal y colectiva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106D994C-A8A5-416D-9EF5-1C01E4BF7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59080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A6E981-C8DB-4CE3-A232-8B7ECA6F99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26574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RF15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207C18-6807-40E5-A716-4882169765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5717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Recompensas grupales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D445B8FD-AD68-40D2-8F5E-486BDAC0C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8479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Desbloqueo por meta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4380AC8-0F2A-4BB2-A14A-6BA8D57CBD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44805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22D74D7-B3D0-4C15-ADF3-D2532FA3D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351472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8357CCA-4189-417E-80B4-23BA54EDC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42900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Administrar miembros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C96E56D-6450-43A9-A61B-FE877E148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370522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Permisos, altas y bajas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FFA8828-377A-409F-BE12-E00DD92B36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05300"/>
            <a:ext cx="647700" cy="400050"/>
          </a:xfrm>
          <a:prstGeom xmlns:a="http://schemas.openxmlformats.org/drawingml/2006/main" prst="roundRect">
            <a:avLst>
              <a:gd name="adj" fmla="val 19048"/>
            </a:avLst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705EE939-28B4-4569-A725-D953CE2A22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371975"/>
            <a:ext cx="6477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RF17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D9C51723-E502-4CA0-B78E-5CB192638F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286250"/>
            <a:ext cx="34861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Ranking de grupos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4AD2CA0F-B38E-4C90-9348-8252620F1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4562475"/>
            <a:ext cx="3771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Posiciones por puntaje total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F60713DB-94E4-4D58-BD7B-061841FD9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10200"/>
            <a:ext cx="108204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0">
            <a:solidFill>
              <a:srgbClr val="DDF1E2"/>
            </a:solidFill>
            <a:prstDash val="solid"/>
          </a:ln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EB5DEEE2-BFDC-4057-B41F-DF473386F6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543550"/>
            <a:ext cx="10382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0F4E2E"/>
                </a:solidFill>
              </a:defRPr>
            </a:pPr>
            <a:r>
              <a:rPr sz="1650" b="1" i="0">
                <a:solidFill>
                  <a:srgbClr val="0F4E2E"/>
                </a:solidFill>
              </a:rPr>
              <a:t>100% funcional · 12/12 escenarios Gherkin · IT-01 a IT-17</a:t>
            </a:r>
          </a:p>
        </p:txBody>
      </p:sp>
    </p:spTree>
    <p:extLst>
      <p:ext uri="{BB962C8B-B14F-4D97-AF65-F5344CB8AC3E}">
        <p14:creationId xmlns:p14="http://schemas.microsoft.com/office/powerpoint/2010/main" val="151593036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6699F21-4F5F-4128-83FB-B201D92ED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ARQUITECTURA FINAL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6316EAF-E141-40D0-8F59-75867E824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Una app Android con Firebase y dominio testeable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12CA42E-DEAF-431B-81C7-007DD2952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13335F5-A815-4A31-B87A-F7FABD9D4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05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2D33EA-753E-4680-BDEE-3ABD12756B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9FB64F5-D5AB-4D0A-BF6C-1953E5FB30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67000" y="25527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47889F-8F66-4257-93AF-FA18A0C996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476875" y="25527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700E4E-D271-4C02-8A70-7CD2EE5529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552700"/>
            <a:ext cx="666750" cy="3429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70E77AD-581B-4CAC-9C91-063945145E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10150" y="4171950"/>
            <a:ext cx="361950" cy="7239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5076A8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2F942A-BDC1-471F-9432-DDD7B2D0F5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62750" y="4171950"/>
            <a:ext cx="361950" cy="723900"/>
          </a:xfrm>
          <a:prstGeom xmlns:a="http://schemas.openxmlformats.org/drawingml/2006/main" prst="upArrow">
            <a:avLst/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D69A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144BCC-E8CB-4BBA-843F-6E24AF4409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955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79B1B47-79D6-4217-9637-0A105EBD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286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0F4E2E"/>
                </a:solidFill>
              </a:defRPr>
            </a:pPr>
            <a:r>
              <a:rPr sz="1725" b="1" i="0">
                <a:solidFill>
                  <a:srgbClr val="0F4E2E"/>
                </a:solidFill>
              </a:rPr>
              <a:t>UI Compose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8E9775F-FCC3-4709-8AA1-5FF0A1C2D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6860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Mapa · QR · Historial</a:t>
            </a:r>
          </a:p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Grupos · Perfil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08D57F2-AE89-467A-851D-8F679E5EC3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76625" y="20955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F9CBFA3-F88E-4207-B02D-7CAB47B71D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286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16231B"/>
                </a:solidFill>
              </a:defRPr>
            </a:pPr>
            <a:r>
              <a:rPr sz="1725" b="1" i="0">
                <a:solidFill>
                  <a:srgbClr val="16231B"/>
                </a:solidFill>
              </a:rPr>
              <a:t>ViewModels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19A3541-E95E-46A1-B5D6-0BE17E91E2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48075" y="26860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Estado y orquestación</a:t>
            </a:r>
          </a:p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de pantallas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46201C7-E39C-4DC0-B748-A40D0E59E1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0" y="20955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102C9CF-3F58-426D-92FE-6D4256D1C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286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5076A8"/>
                </a:solidFill>
              </a:defRPr>
            </a:pPr>
            <a:r>
              <a:rPr sz="1725" b="1" i="0">
                <a:solidFill>
                  <a:srgbClr val="5076A8"/>
                </a:solidFill>
              </a:rPr>
              <a:t>Servicios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57DFFBED-E090-4F37-8A2B-A2544E8156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7950" y="26860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Casos de uso y</a:t>
            </a:r>
          </a:p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puertos de aplicación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B856DCA-36E8-40EE-9015-01D520017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96375" y="2095500"/>
            <a:ext cx="2381250" cy="1257300"/>
          </a:xfrm>
          <a:prstGeom xmlns:a="http://schemas.openxmlformats.org/drawingml/2006/main" prst="roundRect">
            <a:avLst>
              <a:gd name="adj" fmla="val 6061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6CDAA72-C35F-4488-B2A9-38431C68D0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286000"/>
            <a:ext cx="20383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815A12"/>
                </a:solidFill>
              </a:defRPr>
            </a:pPr>
            <a:r>
              <a:rPr sz="1725" b="1" i="0">
                <a:solidFill>
                  <a:srgbClr val="815A12"/>
                </a:solidFill>
              </a:rPr>
              <a:t>Dominio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21159D2-5175-4228-944A-4DA30EA4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67825" y="2686050"/>
            <a:ext cx="203835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Grupos · ranking</a:t>
            </a:r>
          </a:p>
          <a:p xmlns:a="http://schemas.openxmlformats.org/drawingml/2006/main">
            <a:pPr algn="ctr">
              <a:defRPr sz="1350" b="0" i="0">
                <a:solidFill>
                  <a:srgbClr val="58655D"/>
                </a:solidFill>
              </a:defRPr>
            </a:pPr>
            <a:r>
              <a:rPr sz="1350" b="0" i="0">
                <a:solidFill>
                  <a:srgbClr val="58655D"/>
                </a:solidFill>
              </a:rPr>
              <a:t>reglas puras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7F77F67-40AC-4F57-A9F2-4CB5F6BABE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48577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5076A8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C7971C9-2771-4FC3-9383-86EB51E96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010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5076A8"/>
                </a:solidFill>
              </a:defRPr>
            </a:pPr>
            <a:r>
              <a:rPr sz="1650" b="1" i="0">
                <a:solidFill>
                  <a:srgbClr val="5076A8"/>
                </a:solidFill>
              </a:rPr>
              <a:t>Firebase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40C9D0E-BE9A-4D7A-920C-06161EE3D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91000" y="5314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Auth · Firestore · Storage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5274E72-7C22-4987-99F3-C67682898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15125" y="4857750"/>
            <a:ext cx="2381250" cy="781050"/>
          </a:xfrm>
          <a:prstGeom xmlns:a="http://schemas.openxmlformats.org/drawingml/2006/main" prst="roundRect">
            <a:avLst>
              <a:gd name="adj" fmla="val 9756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D69A27"/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A2AEBD6-B52D-42E3-838A-6C0FF5871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010150"/>
            <a:ext cx="20002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815A12"/>
                </a:solidFill>
              </a:defRPr>
            </a:pPr>
            <a:r>
              <a:rPr sz="1650" b="1" i="0">
                <a:solidFill>
                  <a:srgbClr val="815A12"/>
                </a:solidFill>
              </a:rPr>
              <a:t>Tests aislados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355CA2-81AA-4387-A538-9E6AA46FE8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05625" y="5314950"/>
            <a:ext cx="20002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Fakes · repos in-memory</a:t>
            </a:r>
          </a:p>
        </p:txBody>
      </p:sp>
    </p:spTree>
    <p:extLst>
      <p:ext uri="{BB962C8B-B14F-4D97-AF65-F5344CB8AC3E}">
        <p14:creationId xmlns:p14="http://schemas.microsoft.com/office/powerpoint/2010/main" val="48554089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0529377-6C8F-4417-84C4-7C06C638AC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PROCESO DE DESARROLLO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22E7BD2-758D-49BE-B06A-C1CB9A8FDB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TDD y BDD guiaron el comportamiento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6EA54B7-272C-4831-8669-DE32046652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D9CC8C6-AC40-4BE1-9B09-F9F5032CB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06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1D14B4F-2A51-4643-8EDF-12FC2C503F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EE0831-C371-4E52-A4EA-3CA94EF361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4572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231B"/>
                </a:solidFill>
              </a:defRPr>
            </a:pPr>
            <a:r>
              <a:rPr sz="1800" b="1" i="0">
                <a:solidFill>
                  <a:srgbClr val="16231B"/>
                </a:solidFill>
              </a:rPr>
              <a:t>Ciclo TDD evidenciado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CE00A5-5030-44DA-804B-0195375DD0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33600"/>
            <a:ext cx="133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F9E4DF"/>
          </a:solidFill>
          <a:ln xmlns:a="http://schemas.openxmlformats.org/drawingml/2006/main" w="9525">
            <a:solidFill>
              <a:srgbClr val="C85D4D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0C2190C-C847-4B4E-8AD6-2766CA542A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3241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C85D4D"/>
                </a:solidFill>
              </a:defRPr>
            </a:pPr>
            <a:r>
              <a:rPr sz="1425" b="1" i="0">
                <a:solidFill>
                  <a:srgbClr val="C85D4D"/>
                </a:solidFill>
              </a:rPr>
              <a:t>RED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9EF7054-D605-4F7A-9185-1331121221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6860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Test que falla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6D58978-E43A-4EED-AEE2-4A22731AD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2133600"/>
            <a:ext cx="133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9525">
            <a:solidFill>
              <a:srgbClr val="167A4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86B42EA-BABB-472C-AFBD-B634F93044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3241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67A42"/>
                </a:solidFill>
              </a:defRPr>
            </a:pPr>
            <a:r>
              <a:rPr sz="1425" b="1" i="0">
                <a:solidFill>
                  <a:srgbClr val="167A42"/>
                </a:solidFill>
              </a:rPr>
              <a:t>GREEN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E6B0576-B246-4848-95FD-312F92C9B8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05050" y="26860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Código mínimo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B2593FE-22BC-4799-B4D1-8514066E34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2133600"/>
            <a:ext cx="1333500" cy="1104900"/>
          </a:xfrm>
          <a:prstGeom xmlns:a="http://schemas.openxmlformats.org/drawingml/2006/main" prst="roundRect">
            <a:avLst>
              <a:gd name="adj" fmla="val 6897"/>
            </a:avLst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507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BC9C8CA-C7C1-44FC-9F5C-1E2110BFE4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324100"/>
            <a:ext cx="11049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5076A8"/>
                </a:solidFill>
              </a:defRPr>
            </a:pPr>
            <a:r>
              <a:rPr sz="1425" b="1" i="0">
                <a:solidFill>
                  <a:srgbClr val="5076A8"/>
                </a:solidFill>
              </a:rPr>
              <a:t>REFACTOR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B5D34E4-C3C6-451E-8A50-BD1EDF9610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10000" y="2686050"/>
            <a:ext cx="11049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58655D"/>
                </a:solidFill>
              </a:defRPr>
            </a:pPr>
            <a:r>
              <a:rPr sz="1275" b="0" i="0">
                <a:solidFill>
                  <a:srgbClr val="58655D"/>
                </a:solidFill>
              </a:rPr>
              <a:t>Diseño limpio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F81C26D-9AF3-4A13-A12C-6AF35A02A1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62350"/>
            <a:ext cx="4514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9661ba6  →  32e2729  →  efd6dd6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0983963-F123-4D13-9C97-9F79AA81D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05250"/>
            <a:ext cx="45148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Commits conectan specs, integración y evidencia.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7C761-B7BC-4F03-817A-A5EA6869C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29300" y="1676400"/>
            <a:ext cx="5676900" cy="3028950"/>
          </a:xfrm>
          <a:prstGeom xmlns:a="http://schemas.openxmlformats.org/drawingml/2006/main" prst="roundRect">
            <a:avLst>
              <a:gd name="adj" fmla="val 2516"/>
            </a:avLst>
          </a:prstGeom>
          <a:solidFill xmlns:a="http://schemas.openxmlformats.org/drawingml/2006/main">
            <a:srgbClr val="1C2A21"/>
          </a:solidFill>
          <a:ln xmlns:a="http://schemas.openxmlformats.org/drawingml/2006/main" w="0">
            <a:solidFill>
              <a:srgbClr val="1C2A21"/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748F214-3F82-4350-873F-3D1FDCA29F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885950"/>
            <a:ext cx="5143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8EF8B"/>
                </a:solidFill>
              </a:defRPr>
            </a:pPr>
            <a:r>
              <a:rPr sz="1650" b="1" i="0">
                <a:solidFill>
                  <a:srgbClr val="B8EF8B"/>
                </a:solidFill>
              </a:rPr>
              <a:t>Escenario RF17: ranking grupal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C0BD69D-B2A0-4D82-9D3C-B64FEAF800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43150"/>
            <a:ext cx="4953000" cy="1352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Dado los grupos G1, G2 y G3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Cuando calculo el ranking grupal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Entonces el primer grupo debe ser "G2"</a:t>
            </a:r>
          </a:p>
          <a:p xmlns:a="http://schemas.openxmlformats.org/drawingml/2006/main">
            <a:pPr algn="l">
              <a:defRPr sz="1500" b="0" i="0">
                <a:solidFill>
                  <a:srgbClr val="FFFFFF"/>
                </a:solidFill>
              </a:defRPr>
            </a:pPr>
            <a:r>
              <a:rPr sz="1500" b="0" i="0">
                <a:solidFill>
                  <a:srgbClr val="FFFFFF"/>
                </a:solidFill>
              </a:rPr>
              <a:t>Y la posición de "G1" debe ser 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9ECDA246-6328-427D-8720-A9197C304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943350"/>
            <a:ext cx="4953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CFE1D4"/>
                </a:solidFill>
              </a:defRPr>
            </a:pPr>
            <a:r>
              <a:rPr sz="1350" b="1" i="0">
                <a:solidFill>
                  <a:srgbClr val="CFE1D4"/>
                </a:solidFill>
              </a:rPr>
              <a:t>Glue: GruposRankingSteps → servicio real de dominio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2358363-EDE2-4D89-B2E7-2CCCF5946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67300"/>
            <a:ext cx="108204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0F4E2E"/>
          </a:solidFill>
          <a:ln xmlns:a="http://schemas.openxmlformats.org/drawingml/2006/main" w="0">
            <a:solidFill>
              <a:srgbClr val="0F4E2E"/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828B0B8-AAF1-4B7E-9914-2BC5E27D5B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5257800"/>
            <a:ext cx="10287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FFFFFF"/>
                </a:solidFill>
              </a:defRPr>
            </a:pPr>
            <a:r>
              <a:rPr sz="1800" b="1" i="0">
                <a:solidFill>
                  <a:srgbClr val="FFFFFF"/>
                </a:solidFill>
              </a:rPr>
              <a:t>12/12 escenarios Gherkin definidos están automatizados y pasan</a:t>
            </a:r>
          </a:p>
        </p:txBody>
      </p:sp>
    </p:spTree>
    <p:extLst>
      <p:ext uri="{BB962C8B-B14F-4D97-AF65-F5344CB8AC3E}">
        <p14:creationId xmlns:p14="http://schemas.microsoft.com/office/powerpoint/2010/main" val="1745552732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345E5BB9-07F5-4CDB-B506-C3EC139503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PRUEBAS Y COBERTURA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BA40A6-53AD-4DAC-B6BE-29C063A73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La evidencia supera los umbrales de calidad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87E7B9-414D-4770-97D2-A2B419E053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34C842F-F3F6-49EB-B448-C24670766D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07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A6A8D4C-7C2F-46A5-B3DC-A5FBBEB5A7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E4EA9DE-0781-46AD-B4E6-20AF3D11AE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7048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6231B"/>
                </a:solidFill>
              </a:defRPr>
            </a:pPr>
            <a:r>
              <a:rPr sz="1800" b="1" i="0">
                <a:solidFill>
                  <a:srgbClr val="16231B"/>
                </a:solidFill>
              </a:rPr>
              <a:t>Cobertura del código implementado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48533EB-52FD-4E6A-9E72-78242C2B9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907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167A42"/>
                </a:solidFill>
              </a:defRPr>
            </a:pPr>
            <a:r>
              <a:rPr sz="1500" b="1" i="0">
                <a:solidFill>
                  <a:srgbClr val="167A42"/>
                </a:solidFill>
              </a:rPr>
              <a:t>Líneas · 89,23%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BFFEBA5-CD95-4527-AFD6-916E7BE51F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2E8E2"/>
          </a:solidFill>
          <a:ln xmlns:a="http://schemas.openxmlformats.org/drawingml/2006/main" w="0">
            <a:solidFill>
              <a:srgbClr val="E2E8E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9C1287A-3428-4C17-81AE-B9957E6B1A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209800"/>
            <a:ext cx="4759528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3EAD0-349A-417B-88F9-681EF8B298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17170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A27"/>
          </a:solidFill>
          <a:ln xmlns:a="http://schemas.openxmlformats.org/drawingml/2006/main" w="0">
            <a:solidFill>
              <a:srgbClr val="D69A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B807693-2206-4741-86CC-98CD2E3B74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00350"/>
            <a:ext cx="2000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1" i="0">
                <a:solidFill>
                  <a:srgbClr val="5076A8"/>
                </a:solidFill>
              </a:defRPr>
            </a:pPr>
            <a:r>
              <a:rPr sz="1500" b="1" i="0">
                <a:solidFill>
                  <a:srgbClr val="5076A8"/>
                </a:solidFill>
              </a:rPr>
              <a:t>Ramas · 77,88%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76C2B3-605A-46B3-AB7E-94FDD338A4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5334000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2E8E2"/>
          </a:solidFill>
          <a:ln xmlns:a="http://schemas.openxmlformats.org/drawingml/2006/main" w="0">
            <a:solidFill>
              <a:srgbClr val="E2E8E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85BF1D-1119-4A4D-A195-302F9C9AB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2819400"/>
            <a:ext cx="4154119" cy="20955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7DB9DE-6007-445E-AFAC-0C8846A6D2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15100" y="2781300"/>
            <a:ext cx="28575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A27"/>
          </a:solidFill>
          <a:ln xmlns:a="http://schemas.openxmlformats.org/drawingml/2006/main" w="0">
            <a:solidFill>
              <a:srgbClr val="D69A27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DAA2A95-E923-49D0-A704-F682A84AEE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81300" y="325755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815A12"/>
                </a:solidFill>
              </a:defRPr>
            </a:pPr>
            <a:r>
              <a:rPr sz="1275" b="0" i="0">
                <a:solidFill>
                  <a:srgbClr val="815A12"/>
                </a:solidFill>
              </a:rPr>
              <a:t>Umbral académico: 70%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F888F13-F8A6-4F83-9D30-AE5D86E6F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1C2AE8-D666-44AE-99E4-722AA12877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17526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1B1F293-D954-40CC-AC97-D1D4F78806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194310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7A42"/>
                </a:solidFill>
              </a:defRPr>
            </a:pPr>
            <a:r>
              <a:rPr sz="2850" b="1" i="0">
                <a:solidFill>
                  <a:srgbClr val="167A42"/>
                </a:solidFill>
              </a:rPr>
              <a:t>83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7787E4B-2956-4630-8E95-2C053B28FC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257175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tests · 0 fallos · 0 errores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CC240AA-54A7-4702-BB3E-23379407BB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3143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F42E89E-C16F-4217-8DB1-DAAFE154FE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62950" y="333375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5CFFBFB8-884D-49AD-9830-69B0E8850A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3524250"/>
            <a:ext cx="2762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5076A8"/>
                </a:solidFill>
              </a:defRPr>
            </a:pPr>
            <a:r>
              <a:rPr sz="2850" b="1" i="0">
                <a:solidFill>
                  <a:srgbClr val="5076A8"/>
                </a:solidFill>
              </a:rPr>
              <a:t>IT-01…17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E6B8CEA-5460-4567-8770-A4F885D718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91550" y="4152900"/>
            <a:ext cx="2762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flujos de integración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2F4E295-B916-4D48-BB55-2D7F43CB6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943350"/>
            <a:ext cx="7239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6231B"/>
                </a:solidFill>
              </a:defRPr>
            </a:pPr>
            <a:r>
              <a:rPr sz="1650" b="1" i="0">
                <a:solidFill>
                  <a:srgbClr val="16231B"/>
                </a:solidFill>
              </a:rPr>
              <a:t>La integración cubre servicios, repositorios, storage fake y eventos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54C1D0A-BF15-42FE-B2E3-4E0C6BFE60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38650"/>
            <a:ext cx="1352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73D54BD-43B1-456D-80B8-8E0AF3B44A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958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Ranking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2494E45-53E1-4438-B42E-A45E8F69D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4577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RF10 · RF13 · RF17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E64F2E0-7558-4EAF-BC3D-465C8960F1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14900"/>
            <a:ext cx="1352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87008892-E0EB-4CCF-A6B9-80E11E0802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97205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Grupos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DACDB41D-827D-4207-BD8F-CD19A649D9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493395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RF11 · RF12 · RF16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6D8911BD-6B69-411A-A748-4622EF440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391150"/>
            <a:ext cx="135255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69A27"/>
          </a:solidFill>
          <a:ln xmlns:a="http://schemas.openxmlformats.org/drawingml/2006/main" w="0">
            <a:solidFill>
              <a:srgbClr val="D69A27"/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991E911-5D9E-4C05-82B4-C3B114AD2D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448300"/>
            <a:ext cx="13525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FFFFFF"/>
                </a:solidFill>
              </a:defRPr>
            </a:pPr>
            <a:r>
              <a:rPr sz="1275" b="1" i="0">
                <a:solidFill>
                  <a:srgbClr val="FFFFFF"/>
                </a:solidFill>
              </a:rPr>
              <a:t>Puntos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C426F5F4-EDA8-4C21-9DBE-70A770482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28850" y="5410200"/>
            <a:ext cx="33337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RF14 · RF15</a:t>
            </a:r>
          </a:p>
        </p:txBody>
      </p:sp>
    </p:spTree>
    <p:extLst>
      <p:ext uri="{BB962C8B-B14F-4D97-AF65-F5344CB8AC3E}">
        <p14:creationId xmlns:p14="http://schemas.microsoft.com/office/powerpoint/2010/main" val="121584524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2937E40-7866-4980-8893-8BD78060E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ADAPTACIÓN ACORDADA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82762AF-1BFC-4B11-992F-6AB7313A3F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Medimos lo que realmente ejecuta la app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A0AD753-2053-4676-A8B4-F8236AE45C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4D218E6-D892-4E76-BFEF-C9A1A681A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08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E68FA70-5EB2-490A-A3CA-0F229AC213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684084D-7356-488D-81C1-4EFBB1042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33550"/>
            <a:ext cx="4210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F9E4DF"/>
          </a:solidFill>
          <a:ln xmlns:a="http://schemas.openxmlformats.org/drawingml/2006/main" w="9525">
            <a:solidFill>
              <a:srgbClr val="C85D4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E37BE74-3E11-45E5-B2C9-D590ED6891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000250"/>
            <a:ext cx="3619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C85D4D"/>
                </a:solidFill>
              </a:defRPr>
            </a:pPr>
            <a:r>
              <a:rPr sz="1725" b="1" i="0">
                <a:solidFill>
                  <a:srgbClr val="C85D4D"/>
                </a:solidFill>
              </a:rPr>
              <a:t>Enunciado general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679782E-EE47-40BB-8688-206AB2564C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2571750"/>
            <a:ext cx="3143250" cy="1200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 i="0">
                <a:solidFill>
                  <a:srgbClr val="16231B"/>
                </a:solidFill>
              </a:defRPr>
            </a:pPr>
            <a:r>
              <a:rPr sz="2100" b="1" i="0">
                <a:solidFill>
                  <a:srgbClr val="16231B"/>
                </a:solidFill>
              </a:rPr>
              <a:t>E2E web</a:t>
            </a:r>
          </a:p>
          <a:p xmlns:a="http://schemas.openxmlformats.org/drawingml/2006/main">
            <a:pPr algn="l">
              <a:defRPr sz="2100" b="1" i="0">
                <a:solidFill>
                  <a:srgbClr val="16231B"/>
                </a:solidFill>
              </a:defRPr>
            </a:pPr>
            <a:r>
              <a:rPr sz="2100" b="1" i="0">
                <a:solidFill>
                  <a:srgbClr val="16231B"/>
                </a:solidFill>
              </a:rPr>
              <a:t>Carga y estrés de APIs</a:t>
            </a:r>
          </a:p>
          <a:p xmlns:a="http://schemas.openxmlformats.org/drawingml/2006/main">
            <a:pPr algn="l">
              <a:defRPr sz="2100" b="1" i="0">
                <a:solidFill>
                  <a:srgbClr val="16231B"/>
                </a:solidFill>
              </a:defRPr>
            </a:pPr>
            <a:r>
              <a:rPr sz="2100" b="1" i="0">
                <a:solidFill>
                  <a:srgbClr val="16231B"/>
                </a:solidFill>
              </a:rPr>
              <a:t>Grafana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090C2FF-1185-4D57-8159-866686EEA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4000500"/>
            <a:ext cx="33528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No representa bien un cliente Android sin API backend propia.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AFAE4D9-6FB4-47BB-9D69-964958AEFB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2857500"/>
            <a:ext cx="1066800" cy="5715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D69A27"/>
          </a:solidFill>
          <a:ln xmlns:a="http://schemas.openxmlformats.org/drawingml/2006/main" w="0">
            <a:solidFill>
              <a:srgbClr val="D69A27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641850B-FF54-4265-8C7A-ABA1CCA77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0" y="3562350"/>
            <a:ext cx="11430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 i="0">
                <a:solidFill>
                  <a:srgbClr val="815A12"/>
                </a:solidFill>
              </a:defRPr>
            </a:pPr>
            <a:r>
              <a:rPr sz="1200" b="1" i="0">
                <a:solidFill>
                  <a:srgbClr val="815A12"/>
                </a:solidFill>
              </a:rPr>
              <a:t>ACUERDO</a:t>
            </a:r>
          </a:p>
          <a:p xmlns:a="http://schemas.openxmlformats.org/drawingml/2006/main">
            <a:pPr algn="ctr">
              <a:defRPr sz="1200" b="1" i="0">
                <a:solidFill>
                  <a:srgbClr val="815A12"/>
                </a:solidFill>
              </a:defRPr>
            </a:pPr>
            <a:r>
              <a:rPr sz="1200" b="1" i="0">
                <a:solidFill>
                  <a:srgbClr val="815A12"/>
                </a:solidFill>
              </a:rPr>
              <a:t>DOCENTE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8078509-87EA-4905-9730-4278734B66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1733550"/>
            <a:ext cx="4972050" cy="3009900"/>
          </a:xfrm>
          <a:prstGeom xmlns:a="http://schemas.openxmlformats.org/drawingml/2006/main" prst="roundRect">
            <a:avLst>
              <a:gd name="adj" fmla="val 2532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9525">
            <a:solidFill>
              <a:srgbClr val="167A42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E358C3A-1AA1-4BF2-B81D-AD71EFFE7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000250"/>
            <a:ext cx="44005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0F4E2E"/>
                </a:solidFill>
              </a:defRPr>
            </a:pPr>
            <a:r>
              <a:rPr sz="1725" b="1" i="0">
                <a:solidFill>
                  <a:srgbClr val="0F4E2E"/>
                </a:solidFill>
              </a:rPr>
              <a:t>Cobertura sustituta ejecutada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E61E65A-6D5A-4D62-9E90-6F8032EA73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2495550"/>
            <a:ext cx="409575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6231B"/>
                </a:solidFill>
              </a:defRPr>
            </a:pPr>
            <a:r>
              <a:rPr sz="1875" b="1" i="0">
                <a:solidFill>
                  <a:srgbClr val="16231B"/>
                </a:solidFill>
              </a:rPr>
              <a:t>Startup cold / warm / hot</a:t>
            </a:r>
          </a:p>
          <a:p xmlns:a="http://schemas.openxmlformats.org/drawingml/2006/main">
            <a:pPr algn="l">
              <a:defRPr sz="1875" b="1" i="0">
                <a:solidFill>
                  <a:srgbClr val="16231B"/>
                </a:solidFill>
              </a:defRPr>
            </a:pPr>
            <a:r>
              <a:rPr sz="1875" b="1" i="0">
                <a:solidFill>
                  <a:srgbClr val="16231B"/>
                </a:solidFill>
              </a:rPr>
              <a:t>Frame timing de navegación</a:t>
            </a:r>
          </a:p>
          <a:p xmlns:a="http://schemas.openxmlformats.org/drawingml/2006/main">
            <a:pPr algn="l">
              <a:defRPr sz="1875" b="1" i="0">
                <a:solidFill>
                  <a:srgbClr val="16231B"/>
                </a:solidFill>
              </a:defRPr>
            </a:pPr>
            <a:r>
              <a:rPr sz="1875" b="1" i="0">
                <a:solidFill>
                  <a:srgbClr val="16231B"/>
                </a:solidFill>
              </a:rPr>
              <a:t>Tamaño y contenido del APK</a:t>
            </a:r>
          </a:p>
          <a:p xmlns:a="http://schemas.openxmlformats.org/drawingml/2006/main">
            <a:pPr algn="l">
              <a:defRPr sz="1875" b="1" i="0">
                <a:solidFill>
                  <a:srgbClr val="16231B"/>
                </a:solidFill>
              </a:defRPr>
            </a:pPr>
            <a:r>
              <a:rPr sz="1875" b="1" i="0">
                <a:solidFill>
                  <a:srgbClr val="16231B"/>
                </a:solidFill>
              </a:rPr>
              <a:t>Baseline Profile y regresión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3324187-4854-4865-A888-2B2311793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19900" y="4191000"/>
            <a:ext cx="4191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0F4E2E"/>
                </a:solidFill>
              </a:defRPr>
            </a:pPr>
            <a:r>
              <a:rPr sz="1425" b="0" i="0">
                <a:solidFill>
                  <a:srgbClr val="0F4E2E"/>
                </a:solidFill>
              </a:rPr>
              <a:t>Macrobenchmark + ADB + análisis del APK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914CB36-3979-4CDF-A59F-88ECCD250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81600"/>
            <a:ext cx="10820400" cy="666750"/>
          </a:xfrm>
          <a:prstGeom xmlns:a="http://schemas.openxmlformats.org/drawingml/2006/main" prst="roundRect">
            <a:avLst>
              <a:gd name="adj" fmla="val 11429"/>
            </a:avLst>
          </a:prstGeom>
          <a:solidFill xmlns:a="http://schemas.openxmlformats.org/drawingml/2006/main">
            <a:srgbClr val="FFF0C9"/>
          </a:solidFill>
          <a:ln xmlns:a="http://schemas.openxmlformats.org/drawingml/2006/main" w="9525">
            <a:solidFill>
              <a:srgbClr val="D69A27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4751D1E-2B75-4211-9711-A7207BE21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362575"/>
            <a:ext cx="103251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6D4A0D"/>
                </a:solidFill>
              </a:defRPr>
            </a:pPr>
            <a:r>
              <a:rPr sz="1650" b="1" i="0">
                <a:solidFill>
                  <a:srgbClr val="6D4A0D"/>
                </a:solidFill>
              </a:rPr>
              <a:t>La sustitución forma parte del alcance evaluado; no se presenta como trabajo faltante.</a:t>
            </a:r>
          </a:p>
        </p:txBody>
      </p:sp>
    </p:spTree>
    <p:extLst>
      <p:ext uri="{BB962C8B-B14F-4D97-AF65-F5344CB8AC3E}">
        <p14:creationId xmlns:p14="http://schemas.microsoft.com/office/powerpoint/2010/main" val="907224876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AEB385D-E5C7-464D-BE66-EDA3C5CB06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MANTENIBILIDAD, FIABILIDAD Y SEGURIDAD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D5BC70-E690-4894-B054-B941F0C582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Sonar mostró deuda real y su reducción quedó registrada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657AD6C-8523-4BBE-8A64-B16FFA6600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46A1164-A2E2-41D6-B0A6-A469F9EE2E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09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6664042-2A03-432D-A299-6C3CD1EA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627C08-E895-4D06-8F5F-0695A94EA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145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58655D"/>
                </a:solidFill>
              </a:defRPr>
            </a:pPr>
            <a:r>
              <a:rPr sz="1650" b="1" i="0">
                <a:solidFill>
                  <a:srgbClr val="58655D"/>
                </a:solidFill>
              </a:rPr>
              <a:t>Iteración Sonar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8CEAF8C-0D46-4489-981E-5997A2D24C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574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C85D4D"/>
                </a:solidFill>
              </a:defRPr>
            </a:pPr>
            <a:r>
              <a:rPr sz="3750" b="1" i="0">
                <a:solidFill>
                  <a:srgbClr val="C85D4D"/>
                </a:solidFill>
              </a:rPr>
              <a:t>22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E9325FA-6E53-4D95-84EF-54AF52C935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24150"/>
            <a:ext cx="23812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code smells detectados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B8041AE-0BD5-4876-B962-6710517EFD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47900"/>
            <a:ext cx="1047750" cy="457200"/>
          </a:xfrm>
          <a:prstGeom xmlns:a="http://schemas.openxmlformats.org/drawingml/2006/main" prst="rightArrow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03EF4DE-1831-4149-88A3-6ED81D900D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057400"/>
            <a:ext cx="1428750" cy="666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 i="0">
                <a:solidFill>
                  <a:srgbClr val="167A42"/>
                </a:solidFill>
              </a:defRPr>
            </a:pPr>
            <a:r>
              <a:rPr sz="3750" b="1" i="0">
                <a:solidFill>
                  <a:srgbClr val="167A42"/>
                </a:solidFill>
              </a:rPr>
              <a:t>20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D2CC260-17A7-42DD-B9E8-8756E0D8B6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67200" y="2724150"/>
            <a:ext cx="2857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abiertos tras 2 correcciones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06EBC1F-79A6-494F-ACBD-E815C1DE40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01D050D-C739-4FC1-AB6D-2CE44E3F9D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214CBDC-4509-4FCC-935A-353660295E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581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7A42"/>
                </a:solidFill>
              </a:defRPr>
            </a:pPr>
            <a:r>
              <a:rPr sz="2850" b="1" i="0">
                <a:solidFill>
                  <a:srgbClr val="167A42"/>
                </a:solidFill>
              </a:rPr>
              <a:t>0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591706-C04F-41DD-8828-414A89C58A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210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bugs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59A40FB-BA94-40D6-AA9F-AA62023CD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91D0A9B-A4D0-4013-B968-2231440AC7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76600" y="33909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A46D5F7-18A1-4F7D-AA1C-EB9892525D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3581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5076A8"/>
                </a:solidFill>
              </a:defRPr>
            </a:pPr>
            <a:r>
              <a:rPr sz="2850" b="1" i="0">
                <a:solidFill>
                  <a:srgbClr val="5076A8"/>
                </a:solidFill>
              </a:rPr>
              <a:t>0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DAC953F-6685-4B37-92FD-61CA0587D6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210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vulnerabilidades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2C2075E-33E3-45E9-855E-C6A5125A52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90900"/>
            <a:ext cx="238125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20A6AB-EE9D-4D4B-AD6F-01A332321C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67400" y="33909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9A27"/>
          </a:solidFill>
          <a:ln xmlns:a="http://schemas.openxmlformats.org/drawingml/2006/main" w="0">
            <a:solidFill>
              <a:srgbClr val="D69A27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E20356-923C-4A76-81A9-DFAE3664E2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581400"/>
            <a:ext cx="20002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D69A27"/>
                </a:solidFill>
              </a:defRPr>
            </a:pPr>
            <a:r>
              <a:rPr sz="2850" b="1" i="0">
                <a:solidFill>
                  <a:srgbClr val="D69A27"/>
                </a:solidFill>
              </a:rPr>
              <a:t>0,0%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31D079B-E0C7-44F0-88C5-B24CBD448E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210050"/>
            <a:ext cx="20002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duplicación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22B8A7D-0AF0-436C-BA44-C8DD63D7C8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3048000" cy="1352550"/>
          </a:xfrm>
          <a:prstGeom xmlns:a="http://schemas.openxmlformats.org/drawingml/2006/main" prst="roundRect">
            <a:avLst>
              <a:gd name="adj" fmla="val 563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CFD8D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82D1733-2A30-4835-917A-11068FC5F8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58200" y="3390900"/>
            <a:ext cx="76200" cy="1352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56E487C8-08BE-48B8-BCEA-4657EDBA46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3581400"/>
            <a:ext cx="266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850" b="1" i="0">
                <a:solidFill>
                  <a:srgbClr val="167A42"/>
                </a:solidFill>
              </a:defRPr>
            </a:pPr>
            <a:r>
              <a:rPr sz="2850" b="1" i="0">
                <a:solidFill>
                  <a:srgbClr val="167A42"/>
                </a:solidFill>
              </a:rPr>
              <a:t>A / A / A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AE03F33C-C7DF-4CD9-B5C0-D6DE22A9A7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86800" y="4210050"/>
            <a:ext cx="2667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58655D"/>
                </a:solidFill>
              </a:defRPr>
            </a:pPr>
            <a:r>
              <a:rPr sz="1425" b="0" i="0">
                <a:solidFill>
                  <a:srgbClr val="58655D"/>
                </a:solidFill>
              </a:rPr>
              <a:t>mantención · seguridad · fiabilidad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B49DE2C9-92B1-47E5-960E-5BE2BDA304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086350"/>
            <a:ext cx="10820400" cy="819150"/>
          </a:xfrm>
          <a:prstGeom xmlns:a="http://schemas.openxmlformats.org/drawingml/2006/main" prst="roundRect">
            <a:avLst>
              <a:gd name="adj" fmla="val 9302"/>
            </a:avLst>
          </a:prstGeom>
          <a:solidFill xmlns:a="http://schemas.openxmlformats.org/drawingml/2006/main">
            <a:srgbClr val="E5EDF8"/>
          </a:solidFill>
          <a:ln xmlns:a="http://schemas.openxmlformats.org/drawingml/2006/main" w="9525">
            <a:solidFill>
              <a:srgbClr val="5076A8"/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E916CF8-FA6B-40D6-A671-BE0728267B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5238750"/>
            <a:ext cx="1714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1" i="0">
                <a:solidFill>
                  <a:srgbClr val="5076A8"/>
                </a:solidFill>
              </a:defRPr>
            </a:pPr>
            <a:r>
              <a:rPr sz="1425" b="1" i="0">
                <a:solidFill>
                  <a:srgbClr val="5076A8"/>
                </a:solidFill>
              </a:rPr>
              <a:t>Lectura correcta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0C0CA46-1551-4EBB-BE14-6B486DD04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47950" y="5219700"/>
            <a:ext cx="85725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Sonar histórico mostró 0% porque no importó JaCoCo. La cobertura local actual sí está medida: 89,23% líneas y 77,88% ramas.</a:t>
            </a:r>
          </a:p>
        </p:txBody>
      </p:sp>
    </p:spTree>
    <p:extLst>
      <p:ext uri="{BB962C8B-B14F-4D97-AF65-F5344CB8AC3E}">
        <p14:creationId xmlns:p14="http://schemas.microsoft.com/office/powerpoint/2010/main" val="953015692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10181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9D1235F-EC1B-451B-8A45-1356F63736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EF8B"/>
                </a:solidFill>
              </a:defRPr>
            </a:pPr>
            <a:r>
              <a:rPr sz="1200" b="1" i="0">
                <a:solidFill>
                  <a:srgbClr val="B8EF8B"/>
                </a:solidFill>
              </a:rPr>
              <a:t>RENDIMIENTO ANDROID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E6416-30EC-4E36-B28A-8EF18EEEA3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23900"/>
            <a:ext cx="108204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FFFFFF"/>
                </a:solidFill>
              </a:defRPr>
            </a:pPr>
            <a:r>
              <a:rPr sz="3000" b="1" i="0">
                <a:solidFill>
                  <a:srgbClr val="FFFFFF"/>
                </a:solidFill>
              </a:rPr>
              <a:t>El APK bajó 75,77% y el arranque 31,34%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72EF75-DC79-4A27-A40D-47A37F0FB2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7160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5473B"/>
          </a:solidFill>
          <a:ln xmlns:a="http://schemas.openxmlformats.org/drawingml/2006/main" w="0">
            <a:solidFill>
              <a:srgbClr val="35473B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7296A17-C2DC-4C18-98BB-0B53498999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7526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APK release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0F1BC75-07E0-442B-A05E-5315AECBA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6D4CA"/>
                </a:solidFill>
              </a:defRPr>
            </a:pPr>
            <a:r>
              <a:rPr sz="1350" b="0" i="0">
                <a:solidFill>
                  <a:srgbClr val="C6D4CA"/>
                </a:solidFill>
              </a:rPr>
              <a:t>Antes · 33,12 MiB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E43DAA6-9B36-4481-8F17-A013867CD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209800"/>
            <a:ext cx="4572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B4139"/>
          </a:solidFill>
          <a:ln xmlns:a="http://schemas.openxmlformats.org/drawingml/2006/main" w="0">
            <a:solidFill>
              <a:srgbClr val="7B413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2C503770-B490-4B7D-8F29-4BEA6B262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6860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EF8B"/>
                </a:solidFill>
              </a:defRPr>
            </a:pPr>
            <a:r>
              <a:rPr sz="1350" b="0" i="0">
                <a:solidFill>
                  <a:srgbClr val="B8EF8B"/>
                </a:solidFill>
              </a:rPr>
              <a:t>Después · 8,02 MiB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8102C40-3C15-48D3-BDAB-8D2D65678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2686050"/>
            <a:ext cx="11049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167A42"/>
          </a:solidFill>
          <a:ln xmlns:a="http://schemas.openxmlformats.org/drawingml/2006/main" w="0">
            <a:solidFill>
              <a:srgbClr val="167A42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1DEDB58-9C62-423E-907B-A246F52D39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22479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B8EF8B"/>
                </a:solidFill>
              </a:defRPr>
            </a:pPr>
            <a:r>
              <a:rPr sz="2400" b="1" i="0">
                <a:solidFill>
                  <a:srgbClr val="B8EF8B"/>
                </a:solidFill>
              </a:rPr>
              <a:t>-25,10 MiB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2A9BF4F-7BFE-402F-ADA4-C3FC9FBB7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90900"/>
            <a:ext cx="4095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1" i="0">
                <a:solidFill>
                  <a:srgbClr val="FFFFFF"/>
                </a:solidFill>
              </a:defRPr>
            </a:pPr>
            <a:r>
              <a:rPr sz="1725" b="1" i="0">
                <a:solidFill>
                  <a:srgbClr val="FFFFFF"/>
                </a:solidFill>
              </a:rPr>
              <a:t>Startup ADB · mediana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07C4BD-5375-45D4-BB7A-58CF1921BA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4810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C6D4CA"/>
                </a:solidFill>
              </a:defRPr>
            </a:pPr>
            <a:r>
              <a:rPr sz="1350" b="0" i="0">
                <a:solidFill>
                  <a:srgbClr val="C6D4CA"/>
                </a:solidFill>
              </a:rPr>
              <a:t>Antes · 5.596 ms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196BEF9-242E-44CF-AA1D-EE7D4B7EA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3848100"/>
            <a:ext cx="457200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7B4139"/>
          </a:solidFill>
          <a:ln xmlns:a="http://schemas.openxmlformats.org/drawingml/2006/main" w="0">
            <a:solidFill>
              <a:srgbClr val="7B4139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C5B7459-05EE-4E9B-9D00-E84A1B4DA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324350"/>
            <a:ext cx="209550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8EF8B"/>
                </a:solidFill>
              </a:defRPr>
            </a:pPr>
            <a:r>
              <a:rPr sz="1350" b="0" i="0">
                <a:solidFill>
                  <a:srgbClr val="B8EF8B"/>
                </a:solidFill>
              </a:rPr>
              <a:t>Después · 3.842 ms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A8E50CB-43E0-4F2B-8E49-41F199899E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57500" y="4324350"/>
            <a:ext cx="3143250" cy="228600"/>
          </a:xfrm>
          <a:prstGeom xmlns:a="http://schemas.openxmlformats.org/drawingml/2006/main" prst="roundRect">
            <a:avLst>
              <a:gd name="adj" fmla="val 33333"/>
            </a:avLst>
          </a:prstGeom>
          <a:solidFill xmlns:a="http://schemas.openxmlformats.org/drawingml/2006/main">
            <a:srgbClr val="5076A8"/>
          </a:solidFill>
          <a:ln xmlns:a="http://schemas.openxmlformats.org/drawingml/2006/main" w="0">
            <a:solidFill>
              <a:srgbClr val="5076A8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64D6EDD-6A62-405D-A07F-CAD4C33D91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58100" y="3886200"/>
            <a:ext cx="238125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400" b="1" i="0">
                <a:solidFill>
                  <a:srgbClr val="B8EF8B"/>
                </a:solidFill>
              </a:defRPr>
            </a:pPr>
            <a:r>
              <a:rPr sz="2400" b="1" i="0">
                <a:solidFill>
                  <a:srgbClr val="B8EF8B"/>
                </a:solidFill>
              </a:rPr>
              <a:t>-1.754 ms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BAF472B-21C7-4776-8757-D754DA1E54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C2A21"/>
          </a:solidFill>
          <a:ln xmlns:a="http://schemas.openxmlformats.org/drawingml/2006/main" w="9525">
            <a:solidFill>
              <a:srgbClr val="35473B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F6B35E-CFDF-4979-9033-CC809C23B2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238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BBE"/>
                </a:solidFill>
              </a:defRPr>
            </a:pPr>
            <a:r>
              <a:rPr sz="1350" b="0" i="0">
                <a:solidFill>
                  <a:srgbClr val="B9CBBE"/>
                </a:solidFill>
              </a:rPr>
              <a:t>Cold startup p50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31B7BF2-39BF-4ED9-964A-0864DAB28E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43250" y="5200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3.256 ms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2732812D-DD1D-4B02-B76D-6AE78068E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5105400"/>
            <a:ext cx="4762500" cy="742950"/>
          </a:xfrm>
          <a:prstGeom xmlns:a="http://schemas.openxmlformats.org/drawingml/2006/main" prst="roundRect">
            <a:avLst>
              <a:gd name="adj" fmla="val 10256"/>
            </a:avLst>
          </a:prstGeom>
          <a:solidFill xmlns:a="http://schemas.openxmlformats.org/drawingml/2006/main">
            <a:srgbClr val="1C2A21"/>
          </a:solidFill>
          <a:ln xmlns:a="http://schemas.openxmlformats.org/drawingml/2006/main" w="9525">
            <a:solidFill>
              <a:srgbClr val="35473B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655D0C50-B073-4590-B3DC-965FB71E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238750"/>
            <a:ext cx="209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B9CBBE"/>
                </a:solidFill>
              </a:defRPr>
            </a:pPr>
            <a:r>
              <a:rPr sz="1350" b="0" i="0">
                <a:solidFill>
                  <a:srgbClr val="B9CBBE"/>
                </a:solidFill>
              </a:rPr>
              <a:t>Frame CPU p99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30D64EC-6D82-4E57-AFD9-D1B8BC1A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34350" y="5200650"/>
            <a:ext cx="20002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025" b="1" i="0">
                <a:solidFill>
                  <a:srgbClr val="FFFFFF"/>
                </a:solidFill>
              </a:defRPr>
            </a:pPr>
            <a:r>
              <a:rPr sz="2025" b="1" i="0">
                <a:solidFill>
                  <a:srgbClr val="FFFFFF"/>
                </a:solidFill>
              </a:rPr>
              <a:t>16,77 ms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B08DDD5-BF80-439A-8C2B-2DFC4E312C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7239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9FB2A4"/>
                </a:solidFill>
              </a:defRPr>
            </a:pPr>
            <a:r>
              <a:rPr sz="1200" b="0" i="0">
                <a:solidFill>
                  <a:srgbClr val="9FB2A4"/>
                </a:solidFill>
              </a:rPr>
              <a:t>Macrobenchmark en emulador: línea base reproducible para regresión.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4E3BD98-64AE-4F7F-A32E-2E5130437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9FB2A4"/>
                </a:solidFill>
              </a:defRPr>
            </a:pPr>
            <a:r>
              <a:rPr sz="1200" b="0" i="0">
                <a:solidFill>
                  <a:srgbClr val="9FB2A4"/>
                </a:solidFill>
              </a:rPr>
              <a:t>10</a:t>
            </a:r>
          </a:p>
        </p:txBody>
      </p:sp>
    </p:spTree>
    <p:extLst>
      <p:ext uri="{BB962C8B-B14F-4D97-AF65-F5344CB8AC3E}">
        <p14:creationId xmlns:p14="http://schemas.microsoft.com/office/powerpoint/2010/main" val="133673817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E320D8D9-922D-497D-855A-71DA51E229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VALIDACIÓN EN DISPOSITIVO REAL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8C169A4-A96A-47CF-9DD8-3A8D253E0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Las últimas correcciones se probaron en el S22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8DC8DB1-4909-4E8B-866C-358FC198EC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88B4DE-92F3-4C9E-A5EC-49350BF4FB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11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CD445B-582D-4B0F-9B26-68E5AC43DD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3A2B945-1A02-470D-B292-45BF8C0DD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57350"/>
            <a:ext cx="61912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0F4E2E"/>
                </a:solidFill>
              </a:defRPr>
            </a:pPr>
            <a:r>
              <a:rPr sz="1650" b="1" i="0">
                <a:solidFill>
                  <a:srgbClr val="0F4E2E"/>
                </a:solidFill>
              </a:rPr>
              <a:t>Samsung Galaxy S22 Ultra · Android 16 · Firebase real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C5FF3C2-95C1-4188-9D23-F2C3A09266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1526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0">
            <a:solidFill>
              <a:srgbClr val="DDF1E2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E57B1B5-5474-45CE-927F-32FD4D88A5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09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4E2E"/>
                </a:solidFill>
              </a:defRPr>
            </a:pPr>
            <a:r>
              <a:rPr sz="1275" b="1" i="0">
                <a:solidFill>
                  <a:srgbClr val="0F4E2E"/>
                </a:solidFill>
              </a:rPr>
              <a:t>QR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7CE9CE-157D-47BB-A635-85BF4FCD98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1812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Rectoría UFRO → Firestore → formulario; cámara cerrada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88A8F55-2C5B-4A97-A3C8-C3B533F3DD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1940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0">
            <a:solidFill>
              <a:srgbClr val="DDF1E2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82FFE10-39A7-4B1D-A463-74ABC74801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765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4E2E"/>
                </a:solidFill>
              </a:defRPr>
            </a:pPr>
            <a:r>
              <a:rPr sz="1275" b="1" i="0">
                <a:solidFill>
                  <a:srgbClr val="0F4E2E"/>
                </a:solidFill>
              </a:rPr>
              <a:t>Solicitud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C90201-0BA5-40D6-A38E-A2C29AEEC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28479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3 kg de plástico persistidos; fallback resiliente sin foto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D4DDF6E-C0E0-4843-9A84-2E9323185C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4861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0">
            <a:solidFill>
              <a:srgbClr val="DDF1E2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B77779-53C1-46B8-BFB0-2DE0B6C8E8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5433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4E2E"/>
                </a:solidFill>
              </a:defRPr>
            </a:pPr>
            <a:r>
              <a:rPr sz="1275" b="1" i="0">
                <a:solidFill>
                  <a:srgbClr val="0F4E2E"/>
                </a:solidFill>
              </a:rPr>
              <a:t>Grupos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760770-67E2-4F2D-8129-138E0A9FC2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35147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Nombre Google visible; el UID ya no se expone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7CE47C-89C9-499B-89AE-F0338F6E8B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5290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0">
            <a:solidFill>
              <a:srgbClr val="DDF1E2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72BF45-4B5C-4E55-A3F6-A468175D7A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1005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4E2E"/>
                </a:solidFill>
              </a:defRPr>
            </a:pPr>
            <a:r>
              <a:rPr sz="1275" b="1" i="0">
                <a:solidFill>
                  <a:srgbClr val="0F4E2E"/>
                </a:solidFill>
              </a:rPr>
              <a:t>Historial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01EA72B-EF6D-4F92-9547-5787C4BC95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18147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Caché invalidada después de crear o canjear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C9B8C60-E57C-41F8-9E5C-C5AD91F1F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19650"/>
            <a:ext cx="1104900" cy="361950"/>
          </a:xfrm>
          <a:prstGeom xmlns:a="http://schemas.openxmlformats.org/drawingml/2006/main" prst="roundRect">
            <a:avLst>
              <a:gd name="adj" fmla="val 21053"/>
            </a:avLst>
          </a:prstGeom>
          <a:solidFill xmlns:a="http://schemas.openxmlformats.org/drawingml/2006/main">
            <a:srgbClr val="DDF1E2"/>
          </a:solidFill>
          <a:ln xmlns:a="http://schemas.openxmlformats.org/drawingml/2006/main" w="0">
            <a:solidFill>
              <a:srgbClr val="DDF1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A8139C1-D6F1-41E2-9F43-4C3CEBE964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76800"/>
            <a:ext cx="11049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1" i="0">
                <a:solidFill>
                  <a:srgbClr val="0F4E2E"/>
                </a:solidFill>
              </a:defRPr>
            </a:pPr>
            <a:r>
              <a:rPr sz="1275" b="1" i="0">
                <a:solidFill>
                  <a:srgbClr val="0F4E2E"/>
                </a:solidFill>
              </a:rPr>
              <a:t>Interfaz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511952D-8F29-4E9C-A136-20D78F957A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4848225"/>
            <a:ext cx="533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6231B"/>
                </a:solidFill>
              </a:defRPr>
            </a:pPr>
            <a:r>
              <a:rPr sz="1425" b="0" i="0">
                <a:solidFill>
                  <a:srgbClr val="16231B"/>
                </a:solidFill>
              </a:rPr>
              <a:t>Perfil limpio y mapa legible en claro/oscuro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7B1E8CA-E885-47A0-94BE-F6D63B3ADC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29650" y="1619250"/>
            <a:ext cx="2343150" cy="4857750"/>
          </a:xfrm>
          <a:prstGeom xmlns:a="http://schemas.openxmlformats.org/drawingml/2006/main" prst="roundRect">
            <a:avLst>
              <a:gd name="adj" fmla="val 3252"/>
            </a:avLst>
          </a:prstGeom>
          <a:solidFill xmlns:a="http://schemas.openxmlformats.org/drawingml/2006/main">
            <a:srgbClr val="101813"/>
          </a:solidFill>
          <a:ln xmlns:a="http://schemas.openxmlformats.org/drawingml/2006/main" w="0">
            <a:solidFill>
              <a:srgbClr val="101813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7"/>
          <a:fontRef xmlns:a="http://schemas.openxmlformats.org/drawingml/2006/main" idx="major"/>
        </p:style>
      </p:sp>
      <p:pic>
        <p:nvPicPr>
          <p:cNvPr id="4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ba1a807583947e3"/>
          <a:srcRect xmlns:a="http://schemas.openxmlformats.org/drawingml/2006/main" l="79" t="0" r="79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705850" y="1695450"/>
            <a:ext cx="2190750" cy="4705350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5138539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0F4E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67B314FD-611F-4F56-A025-7530152AD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572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B8EF8B"/>
                </a:solidFill>
              </a:defRPr>
            </a:pPr>
            <a:r>
              <a:rPr sz="1200" b="1" i="0">
                <a:solidFill>
                  <a:srgbClr val="B8EF8B"/>
                </a:solidFill>
              </a:rPr>
              <a:t>CIERRE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BDA3D75-3C74-4237-B377-6BA82F8416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57250"/>
            <a:ext cx="9906000" cy="933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450" b="1" i="0">
                <a:solidFill>
                  <a:srgbClr val="FFFFFF"/>
                </a:solidFill>
              </a:defRPr>
            </a:pPr>
            <a:r>
              <a:rPr sz="3450" b="1" i="0">
                <a:solidFill>
                  <a:srgbClr val="FFFFFF"/>
                </a:solidFill>
              </a:rPr>
              <a:t>EcoSense cierra el alcance con evidencia reproducible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1E6BC4-D4CD-45F6-8F2A-6B7E42E98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2479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B8EF8B"/>
                </a:solidFill>
              </a:defRPr>
            </a:pPr>
            <a:r>
              <a:rPr sz="2100" b="1" i="0">
                <a:solidFill>
                  <a:srgbClr val="B8EF8B"/>
                </a:solidFill>
              </a:rPr>
              <a:t>8/8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9598DD-2458-4EFB-819C-325C2F2647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2764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casos priorizados implementados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CE304DD-30D7-4F9D-A4E7-47C2EEDAF8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28765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B8EF8B"/>
                </a:solidFill>
              </a:defRPr>
            </a:pPr>
            <a:r>
              <a:rPr sz="2100" b="1" i="0">
                <a:solidFill>
                  <a:srgbClr val="B8EF8B"/>
                </a:solidFill>
              </a:rPr>
              <a:t>12/12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13142E-2D27-4B2A-A34C-3030C9CC6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29051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escenarios Gherkin automatizados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130045E-5B01-4BCE-94D2-D9181AF28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35052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B8EF8B"/>
                </a:solidFill>
              </a:defRPr>
            </a:pPr>
            <a:r>
              <a:rPr sz="2100" b="1" i="0">
                <a:solidFill>
                  <a:srgbClr val="B8EF8B"/>
                </a:solidFill>
              </a:rPr>
              <a:t>&gt;70%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CBE12F8-9F44-4ECE-8754-E6C315A348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35337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cobertura en líneas y ramas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C816A-A4ED-431D-8D01-658605CCB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13385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B8EF8B"/>
                </a:solidFill>
              </a:defRPr>
            </a:pPr>
            <a:r>
              <a:rPr sz="2100" b="1" i="0">
                <a:solidFill>
                  <a:srgbClr val="B8EF8B"/>
                </a:solidFill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C7F7A45-D332-458E-B967-5ECED1867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16242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ratings Sonar de calidad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8AD7B2-D255-4B2E-B708-34FA59C114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762500"/>
            <a:ext cx="1524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2100" b="1" i="0">
                <a:solidFill>
                  <a:srgbClr val="B8EF8B"/>
                </a:solidFill>
              </a:defRPr>
            </a:pPr>
            <a:r>
              <a:rPr sz="2100" b="1" i="0">
                <a:solidFill>
                  <a:srgbClr val="B8EF8B"/>
                </a:solidFill>
              </a:rPr>
              <a:t>-75,77%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9682186-F062-4D46-ACBC-65C1F02D3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24150" y="4791075"/>
            <a:ext cx="6286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FFFFFF"/>
                </a:solidFill>
              </a:defRPr>
            </a:pPr>
            <a:r>
              <a:rPr sz="1725" b="0" i="0">
                <a:solidFill>
                  <a:srgbClr val="FFFFFF"/>
                </a:solidFill>
              </a:rPr>
              <a:t>APK después de optimizar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0E772CF-6E6C-4923-84AD-0557490668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2247900"/>
            <a:ext cx="3238500" cy="2781300"/>
          </a:xfrm>
          <a:prstGeom xmlns:a="http://schemas.openxmlformats.org/drawingml/2006/main" prst="roundRect">
            <a:avLst>
              <a:gd name="adj" fmla="val 2740"/>
            </a:avLst>
          </a:prstGeom>
          <a:solidFill xmlns:a="http://schemas.openxmlformats.org/drawingml/2006/main">
            <a:srgbClr val="1C2A21"/>
          </a:solidFill>
          <a:ln xmlns:a="http://schemas.openxmlformats.org/drawingml/2006/main" w="9525">
            <a:solidFill>
              <a:srgbClr val="3A5B46"/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22FE69F-3FC2-40C4-BBBD-9B61A1317B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2552700"/>
            <a:ext cx="266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00" b="1" i="0">
                <a:solidFill>
                  <a:srgbClr val="B8EF8B"/>
                </a:solidFill>
              </a:defRPr>
            </a:pPr>
            <a:r>
              <a:rPr sz="1800" b="1" i="0">
                <a:solidFill>
                  <a:srgbClr val="B8EF8B"/>
                </a:solidFill>
              </a:rPr>
              <a:t>Demostración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4BA4761-A5DA-42C8-BECB-C377B11F01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3067050"/>
            <a:ext cx="2667000" cy="1619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Mapa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Escanear QR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↓</a:t>
            </a:r>
          </a:p>
          <a:p xmlns:a="http://schemas.openxmlformats.org/drawingml/2006/main">
            <a:pPr algn="ctr">
              <a:defRPr sz="1875" b="1" i="0">
                <a:solidFill>
                  <a:srgbClr val="FFFFFF"/>
                </a:solidFill>
              </a:defRPr>
            </a:pPr>
            <a:r>
              <a:rPr sz="1875" b="1" i="0">
                <a:solidFill>
                  <a:srgbClr val="FFFFFF"/>
                </a:solidFill>
              </a:rPr>
              <a:t>Historial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76AE3CB-2F04-4E06-8917-F416B3652C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8096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D7E8DC"/>
                </a:solidFill>
              </a:defRPr>
            </a:pPr>
            <a:r>
              <a:rPr sz="1800" b="1" i="0">
                <a:solidFill>
                  <a:srgbClr val="D7E8DC"/>
                </a:solidFill>
              </a:rPr>
              <a:t>La calidad no se declara:</a:t>
            </a:r>
          </a:p>
          <a:p xmlns:a="http://schemas.openxmlformats.org/drawingml/2006/main">
            <a:pPr algn="l">
              <a:defRPr sz="1800" b="1" i="0">
                <a:solidFill>
                  <a:srgbClr val="D7E8DC"/>
                </a:solidFill>
              </a:defRPr>
            </a:pPr>
            <a:r>
              <a:rPr sz="1800" b="1" i="0">
                <a:solidFill>
                  <a:srgbClr val="D7E8DC"/>
                </a:solidFill>
              </a:rPr>
              <a:t>se ejecuta, se mide y se puede repetir.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A96FC0F-2284-4A61-B848-59DAF13E59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9FC1AA"/>
                </a:solidFill>
              </a:defRPr>
            </a:pPr>
            <a:r>
              <a:rPr sz="1200" b="0" i="0">
                <a:solidFill>
                  <a:srgbClr val="9FC1AA"/>
                </a:solidFill>
              </a:rPr>
              <a:t>12</a:t>
            </a:r>
          </a:p>
        </p:txBody>
      </p:sp>
    </p:spTree>
    <p:extLst>
      <p:ext uri="{BB962C8B-B14F-4D97-AF65-F5344CB8AC3E}">
        <p14:creationId xmlns:p14="http://schemas.microsoft.com/office/powerpoint/2010/main" val="72727810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6F8F3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C9E7B04E-F332-45CF-8B68-C79EA9F4F9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00050"/>
            <a:ext cx="8572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167A42"/>
                </a:solidFill>
              </a:defRPr>
            </a:pPr>
            <a:r>
              <a:rPr sz="1200" b="1" i="0">
                <a:solidFill>
                  <a:srgbClr val="167A42"/>
                </a:solidFill>
              </a:rPr>
              <a:t>ANEXO PARA PREGUNTAS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33CEA7E-144B-4F37-B6CC-E79F1EE8C7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85800"/>
            <a:ext cx="108204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000" b="1" i="0">
                <a:solidFill>
                  <a:srgbClr val="16231B"/>
                </a:solidFill>
              </a:defRPr>
            </a:pPr>
            <a:r>
              <a:rPr sz="3000" b="1" i="0">
                <a:solidFill>
                  <a:srgbClr val="16231B"/>
                </a:solidFill>
              </a:rPr>
              <a:t>Respaldo, comandos y rutas de evidencia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6BBA2E-B008-4EBD-B0D7-8C1E7E5FDA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352550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8D0"/>
          </a:solidFill>
          <a:ln xmlns:a="http://schemas.openxmlformats.org/drawingml/2006/main" w="0">
            <a:solidFill>
              <a:srgbClr val="CFD8D0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C67FF65-9A76-4BD3-85C9-5F4D3532D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6229350"/>
            <a:ext cx="4572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13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864F7F8-1213-4015-A24E-67F33A6A5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6229350"/>
            <a:ext cx="266700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200" b="0" i="0">
                <a:solidFill>
                  <a:srgbClr val="58655D"/>
                </a:solidFill>
              </a:defRPr>
            </a:pPr>
            <a:r>
              <a:rPr sz="1200" b="0" i="0">
                <a:solidFill>
                  <a:srgbClr val="58655D"/>
                </a:solidFill>
              </a:rPr>
              <a:t>EcoSense · Presentación final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F0D4FE6-D9C7-434B-8464-D91373E5F1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6954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  <a:ln xmlns:a="http://schemas.openxmlformats.org/drawingml/2006/main" w="0">
            <a:solidFill>
              <a:srgbClr val="EDF2ED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E958EEF-2572-41DD-97C5-6D20107B72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1781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Informe final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48015F7-A008-4A75-9B1B-D33DA14003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17811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231B"/>
                </a:solidFill>
              </a:defRPr>
            </a:pPr>
            <a:r>
              <a:rPr sz="1350" b="0" i="0">
                <a:solidFill>
                  <a:srgbClr val="16231B"/>
                </a:solidFill>
              </a:rPr>
              <a:t>docs/informe-avance-02-ecosense.pdf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8133B8-4121-4585-9294-87298832E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314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Cobertura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A03B859-8785-4A05-8B6E-16BCCB8201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3145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231B"/>
                </a:solidFill>
              </a:defRPr>
            </a:pPr>
            <a:r>
              <a:rPr sz="1350" b="0" i="0">
                <a:solidFill>
                  <a:srgbClr val="16231B"/>
                </a:solidFill>
              </a:rPr>
              <a:t>docs/evidencias-avance-02/jacoco-summary.txt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311C995-350A-48E9-9430-23E803187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7622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  <a:ln xmlns:a="http://schemas.openxmlformats.org/drawingml/2006/main" w="0">
            <a:solidFill>
              <a:srgbClr val="EDF2ED"/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D68B581-8267-46C7-8771-8F702E9F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28479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BDD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329BB51-73CF-4153-9B01-A465F3D519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28479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231B"/>
                </a:solidFill>
              </a:defRPr>
            </a:pPr>
            <a:r>
              <a:rPr sz="1350" b="0" i="0">
                <a:solidFill>
                  <a:srgbClr val="16231B"/>
                </a:solidFill>
              </a:rPr>
              <a:t>app/src/test/resources/features/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1E2C2E1-8247-46FC-AC51-E40F614E9C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3813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Integración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2406754-6C92-4866-97C1-2EFEF18614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3813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231B"/>
                </a:solidFill>
              </a:defRPr>
            </a:pPr>
            <a:r>
              <a:rPr sz="1350" b="0" i="0">
                <a:solidFill>
                  <a:srgbClr val="16231B"/>
                </a:solidFill>
              </a:rPr>
              <a:t>EcoSenseIntegrationSpec · IT-01 a IT-17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D9986AB-253A-49B8-B0B3-CEBA70B60D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  <a:ln xmlns:a="http://schemas.openxmlformats.org/drawingml/2006/main" w="0">
            <a:solidFill>
              <a:srgbClr val="EDF2ED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7B27D53-A706-4E3D-B734-AB32F5D330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39147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SonarQube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114A81-18B3-4567-A867-87E399774D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39147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231B"/>
                </a:solidFill>
              </a:defRPr>
            </a:pPr>
            <a:r>
              <a:rPr sz="1350" b="0" i="0">
                <a:solidFill>
                  <a:srgbClr val="16231B"/>
                </a:solidFill>
              </a:rPr>
              <a:t>docs/sonarqube-*.json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B8FD019C-086C-4078-8C1C-5BF3BE295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4481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Performance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CF61CF1-E041-4431-AD8F-F1A1610D8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4481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231B"/>
                </a:solidFill>
              </a:defRPr>
            </a:pPr>
            <a:r>
              <a:rPr sz="1350" b="0" i="0">
                <a:solidFill>
                  <a:srgbClr val="16231B"/>
                </a:solidFill>
              </a:rPr>
              <a:t>docs/informe-rendimiento-ecosense.md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ADAB69D-41C8-4037-BEDB-2AC8990B6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895850"/>
            <a:ext cx="108204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DF2ED"/>
          </a:solidFill>
          <a:ln xmlns:a="http://schemas.openxmlformats.org/drawingml/2006/main" w="0">
            <a:solidFill>
              <a:srgbClr val="EDF2ED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5E0096-392E-486B-8F57-8D5F02BCE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5350" y="4981575"/>
            <a:ext cx="20955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1" i="0">
                <a:solidFill>
                  <a:srgbClr val="0F4E2E"/>
                </a:solidFill>
              </a:defRPr>
            </a:pPr>
            <a:r>
              <a:rPr sz="1350" b="1" i="0">
                <a:solidFill>
                  <a:srgbClr val="0F4E2E"/>
                </a:solidFill>
              </a:rPr>
              <a:t>QR de prueba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A7BCAB8-8FD8-4201-BBCA-9A499390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81350" y="4981575"/>
            <a:ext cx="79057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16231B"/>
                </a:solidFill>
              </a:defRPr>
            </a:pPr>
            <a:r>
              <a:rPr sz="1350" b="0" i="0">
                <a:solidFill>
                  <a:srgbClr val="16231B"/>
                </a:solidFill>
              </a:rPr>
              <a:t>docs/qr-pruebas/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7C45DA6-E565-4F74-B8F3-ACEDFE14F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95950"/>
            <a:ext cx="108204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1C2A21"/>
          </a:solidFill>
          <a:ln xmlns:a="http://schemas.openxmlformats.org/drawingml/2006/main" w="0">
            <a:solidFill>
              <a:srgbClr val="1C2A21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A03FB3D-7E2E-4B25-BD76-A998BAA6F4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781675"/>
            <a:ext cx="104394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75" b="0" i="0">
                <a:solidFill>
                  <a:srgbClr val="FFFFFF"/>
                </a:solidFill>
              </a:defRPr>
            </a:pPr>
            <a:r>
              <a:rPr sz="1275" b="0" i="0">
                <a:solidFill>
                  <a:srgbClr val="FFFFFF"/>
                </a:solidFill>
              </a:rPr>
              <a:t>.\gradlew.bat :app:testDebugUnitTest :app:jacocoDebugUnitTestReport --console=plain</a:t>
            </a:r>
          </a:p>
        </p:txBody>
      </p:sp>
    </p:spTree>
    <p:extLst>
      <p:ext uri="{BB962C8B-B14F-4D97-AF65-F5344CB8AC3E}">
        <p14:creationId xmlns:p14="http://schemas.microsoft.com/office/powerpoint/2010/main" val="178194569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2026-07-15T09:30:18.1780000Z</dcterms:created>
  <dcterms:modified xsi:type="dcterms:W3CDTF">2026-07-15T09:30:18.1780000Z</dcterms:modified>
</coreProperties>
</file>